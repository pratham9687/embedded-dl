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22"/>
  </p:notesMasterIdLst>
  <p:sldIdLst>
    <p:sldId id="256" r:id="rId2"/>
    <p:sldId id="257" r:id="rId3"/>
    <p:sldId id="260"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8" d="100"/>
          <a:sy n="68" d="100"/>
        </p:scale>
        <p:origin x="81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C59D2C9-1CA5-4EDB-AD6A-6AAB15AB0FF6}" type="datetimeFigureOut">
              <a:rPr lang="en-IN" smtClean="0"/>
              <a:t>13-04-2025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554C62-7818-4FED-9899-908BD8020D29}" type="slidenum">
              <a:rPr lang="en-IN" smtClean="0"/>
              <a:t>‹#›</a:t>
            </a:fld>
            <a:endParaRPr lang="en-IN"/>
          </a:p>
        </p:txBody>
      </p:sp>
    </p:spTree>
    <p:extLst>
      <p:ext uri="{BB962C8B-B14F-4D97-AF65-F5344CB8AC3E}">
        <p14:creationId xmlns:p14="http://schemas.microsoft.com/office/powerpoint/2010/main" val="2652142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7B554C62-7818-4FED-9899-908BD8020D29}" type="slidenum">
              <a:rPr lang="en-IN" smtClean="0"/>
              <a:t>3</a:t>
            </a:fld>
            <a:endParaRPr lang="en-IN"/>
          </a:p>
        </p:txBody>
      </p:sp>
    </p:spTree>
    <p:extLst>
      <p:ext uri="{BB962C8B-B14F-4D97-AF65-F5344CB8AC3E}">
        <p14:creationId xmlns:p14="http://schemas.microsoft.com/office/powerpoint/2010/main" val="386042654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48A87A34-81AB-432B-8DAE-1953F412C126}" type="datetimeFigureOut">
              <a:rPr lang="en-US" dirty="0"/>
              <a:t>4/13/2025</a:t>
            </a:fld>
            <a:endParaRPr lang="en-US" dirty="0"/>
          </a:p>
        </p:txBody>
      </p:sp>
      <p:sp>
        <p:nvSpPr>
          <p:cNvPr id="5" name="Footer Placeholder 4"/>
          <p:cNvSpPr>
            <a:spLocks noGrp="1"/>
          </p:cNvSpPr>
          <p:nvPr>
            <p:ph type="ftr" sz="quarter" idx="11"/>
          </p:nvPr>
        </p:nvSpPr>
        <p:spPr>
          <a:xfrm>
            <a:off x="1876424" y="5410201"/>
            <a:ext cx="5124886" cy="365125"/>
          </a:xfrm>
        </p:spPr>
        <p:txBody>
          <a:bodyPr/>
          <a:lstStyle/>
          <a:p>
            <a:endParaRPr lang="en-US" dirty="0"/>
          </a:p>
        </p:txBody>
      </p:sp>
      <p:sp>
        <p:nvSpPr>
          <p:cNvPr id="6" name="Slide Number Placeholder 5"/>
          <p:cNvSpPr>
            <a:spLocks noGrp="1"/>
          </p:cNvSpPr>
          <p:nvPr>
            <p:ph type="sldNum" sz="quarter" idx="12"/>
          </p:nvPr>
        </p:nvSpPr>
        <p:spPr>
          <a:xfrm>
            <a:off x="9896911" y="5410199"/>
            <a:ext cx="771089" cy="365125"/>
          </a:xfrm>
        </p:spPr>
        <p:txBody>
          <a:bodyPr/>
          <a:lstStyle/>
          <a:p>
            <a:fld id="{6D22F896-40B5-4ADD-8801-0D06FADFA095}" type="slidenum">
              <a:rPr lang="en-US" dirty="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8A87A34-81AB-432B-8DAE-1953F412C126}" type="datetimeFigureOut">
              <a:rPr lang="en-US" dirty="0"/>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dirty="0"/>
              <a:t>4/13/2025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dirty="0"/>
              <a:t>4/13/2025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dirty="0"/>
              <a:t>4/13/2025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dirty="0"/>
              <a:t>4/13/2025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8A87A34-81AB-432B-8DAE-1953F412C126}" type="datetimeFigureOut">
              <a:rPr lang="en-US" dirty="0"/>
              <a:t>4/13/2025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48A87A34-81AB-432B-8DAE-1953F412C126}" type="datetimeFigureOut">
              <a:rPr lang="en-US" dirty="0"/>
              <a:t>4/13/2025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dirty="0"/>
              <a:t>4/13/2025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48A87A34-81AB-432B-8DAE-1953F412C126}" type="datetimeFigureOut">
              <a:rPr lang="en-US" dirty="0"/>
              <a:pPr/>
              <a:t>4/13/2025</a:t>
            </a:fld>
            <a:endParaRPr lang="en-US"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6D22F896-40B5-4ADD-8801-0D06FADFA09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6" r:id="rId12"/>
    <p:sldLayoutId id="2147483663" r:id="rId13"/>
    <p:sldLayoutId id="2147483667" r:id="rId14"/>
    <p:sldLayoutId id="2147483668" r:id="rId15"/>
    <p:sldLayoutId id="2147483658" r:id="rId16"/>
    <p:sldLayoutId id="2147483659"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F0759-9BCF-38AF-84E6-83416A3AB861}"/>
              </a:ext>
            </a:extLst>
          </p:cNvPr>
          <p:cNvSpPr>
            <a:spLocks noGrp="1"/>
          </p:cNvSpPr>
          <p:nvPr>
            <p:ph type="ctrTitle"/>
          </p:nvPr>
        </p:nvSpPr>
        <p:spPr/>
        <p:txBody>
          <a:bodyPr/>
          <a:lstStyle/>
          <a:p>
            <a:r>
              <a:rPr lang="en-US" dirty="0" err="1"/>
              <a:t>Embeded</a:t>
            </a:r>
            <a:r>
              <a:rPr lang="en-US" dirty="0"/>
              <a:t> DL (</a:t>
            </a:r>
            <a:r>
              <a:rPr lang="en-US" dirty="0" err="1"/>
              <a:t>Ardu_DL</a:t>
            </a:r>
            <a:r>
              <a:rPr lang="en-US" dirty="0"/>
              <a:t>)</a:t>
            </a:r>
            <a:endParaRPr lang="en-IN" dirty="0"/>
          </a:p>
        </p:txBody>
      </p:sp>
      <p:sp>
        <p:nvSpPr>
          <p:cNvPr id="3" name="Subtitle 2">
            <a:extLst>
              <a:ext uri="{FF2B5EF4-FFF2-40B4-BE49-F238E27FC236}">
                <a16:creationId xmlns:a16="http://schemas.microsoft.com/office/drawing/2014/main" id="{64404783-44E6-E20D-8AF9-ADAF1FA74FCC}"/>
              </a:ext>
            </a:extLst>
          </p:cNvPr>
          <p:cNvSpPr>
            <a:spLocks noGrp="1"/>
          </p:cNvSpPr>
          <p:nvPr>
            <p:ph type="subTitle" idx="1"/>
          </p:nvPr>
        </p:nvSpPr>
        <p:spPr/>
        <p:txBody>
          <a:bodyPr/>
          <a:lstStyle/>
          <a:p>
            <a:r>
              <a:rPr lang="en-US" dirty="0">
                <a:solidFill>
                  <a:schemeClr val="tx1"/>
                </a:solidFill>
              </a:rPr>
              <a:t>Creator’s Name: Pratham Panchal</a:t>
            </a:r>
          </a:p>
          <a:p>
            <a:endParaRPr lang="en-US" dirty="0">
              <a:solidFill>
                <a:schemeClr val="tx1"/>
              </a:solidFill>
            </a:endParaRPr>
          </a:p>
          <a:p>
            <a:endParaRPr lang="en-US" dirty="0">
              <a:solidFill>
                <a:schemeClr val="tx1"/>
              </a:solidFill>
            </a:endParaRPr>
          </a:p>
          <a:p>
            <a:endParaRPr lang="en-US" dirty="0">
              <a:solidFill>
                <a:schemeClr val="tx1"/>
              </a:solidFill>
            </a:endParaRPr>
          </a:p>
          <a:p>
            <a:endParaRPr lang="en-US" dirty="0">
              <a:solidFill>
                <a:schemeClr val="tx1"/>
              </a:solidFill>
            </a:endParaRPr>
          </a:p>
        </p:txBody>
      </p:sp>
    </p:spTree>
    <p:extLst>
      <p:ext uri="{BB962C8B-B14F-4D97-AF65-F5344CB8AC3E}">
        <p14:creationId xmlns:p14="http://schemas.microsoft.com/office/powerpoint/2010/main" val="34644053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2CA00F-1DCC-E74A-2CB2-D2EACAE8BF10}"/>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DDD37573-D787-B726-985B-03D5C433A905}"/>
              </a:ext>
            </a:extLst>
          </p:cNvPr>
          <p:cNvSpPr>
            <a:spLocks noGrp="1"/>
          </p:cNvSpPr>
          <p:nvPr>
            <p:ph idx="1"/>
          </p:nvPr>
        </p:nvSpPr>
        <p:spPr/>
        <p:txBody>
          <a:bodyPr/>
          <a:lstStyle/>
          <a:p>
            <a:r>
              <a:rPr lang="en-US" dirty="0"/>
              <a:t>Embedded DL :</a:t>
            </a:r>
          </a:p>
          <a:p>
            <a:r>
              <a:rPr lang="en-US" dirty="0"/>
              <a:t>Embedded DL is technique to implement neural networks on hardware with low resources like a microcontrollers.</a:t>
            </a:r>
          </a:p>
          <a:p>
            <a:r>
              <a:rPr lang="en-US" dirty="0"/>
              <a:t>It is used to implement deep learning models at hardware level or within the electronics circuitry.</a:t>
            </a:r>
          </a:p>
          <a:p>
            <a:r>
              <a:rPr lang="en-US" dirty="0"/>
              <a:t>It can help handle problems that are non linear in nature or cannot be solved or difficult to solve using conventional algorithms, at hardware level.</a:t>
            </a:r>
          </a:p>
        </p:txBody>
      </p:sp>
    </p:spTree>
    <p:extLst>
      <p:ext uri="{BB962C8B-B14F-4D97-AF65-F5344CB8AC3E}">
        <p14:creationId xmlns:p14="http://schemas.microsoft.com/office/powerpoint/2010/main" val="22592724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E66F12-A3F2-1F15-9CC5-ABFB64C69AD5}"/>
              </a:ext>
            </a:extLst>
          </p:cNvPr>
          <p:cNvSpPr>
            <a:spLocks noGrp="1"/>
          </p:cNvSpPr>
          <p:nvPr>
            <p:ph type="title"/>
          </p:nvPr>
        </p:nvSpPr>
        <p:spPr/>
        <p:txBody>
          <a:bodyPr/>
          <a:lstStyle/>
          <a:p>
            <a:r>
              <a:rPr lang="en-US" dirty="0"/>
              <a:t>Applications of Embedded DL</a:t>
            </a:r>
            <a:endParaRPr lang="en-IN" dirty="0"/>
          </a:p>
        </p:txBody>
      </p:sp>
      <p:sp>
        <p:nvSpPr>
          <p:cNvPr id="3" name="Content Placeholder 2">
            <a:extLst>
              <a:ext uri="{FF2B5EF4-FFF2-40B4-BE49-F238E27FC236}">
                <a16:creationId xmlns:a16="http://schemas.microsoft.com/office/drawing/2014/main" id="{1DBECAF8-80F1-3157-E842-1F558D05B050}"/>
              </a:ext>
            </a:extLst>
          </p:cNvPr>
          <p:cNvSpPr>
            <a:spLocks noGrp="1"/>
          </p:cNvSpPr>
          <p:nvPr>
            <p:ph sz="half" idx="1"/>
          </p:nvPr>
        </p:nvSpPr>
        <p:spPr>
          <a:xfrm>
            <a:off x="140678" y="1827455"/>
            <a:ext cx="6119445" cy="4910970"/>
          </a:xfrm>
        </p:spPr>
        <p:txBody>
          <a:bodyPr>
            <a:normAutofit fontScale="77500" lnSpcReduction="20000"/>
          </a:bodyPr>
          <a:lstStyle/>
          <a:p>
            <a:pPr>
              <a:buNone/>
            </a:pPr>
            <a:r>
              <a:rPr lang="en-US" b="1" dirty="0"/>
              <a:t>Battery Health Prediction</a:t>
            </a:r>
            <a:endParaRPr lang="en-US" dirty="0"/>
          </a:p>
          <a:p>
            <a:pPr>
              <a:buFont typeface="Arial" panose="020B0604020202020204" pitchFamily="34" charset="0"/>
              <a:buChar char="•"/>
            </a:pPr>
            <a:r>
              <a:rPr lang="en-US" dirty="0"/>
              <a:t>Predicts battery voltage drop or estimated charge based on usage time, load, and temperature.</a:t>
            </a:r>
          </a:p>
          <a:p>
            <a:pPr>
              <a:buFont typeface="Arial" panose="020B0604020202020204" pitchFamily="34" charset="0"/>
              <a:buChar char="•"/>
            </a:pPr>
            <a:r>
              <a:rPr lang="en-US" dirty="0"/>
              <a:t>Trained using supervised learning on real-world usage data.</a:t>
            </a:r>
          </a:p>
          <a:p>
            <a:pPr>
              <a:buFont typeface="Arial" panose="020B0604020202020204" pitchFamily="34" charset="0"/>
              <a:buChar char="•"/>
            </a:pPr>
            <a:r>
              <a:rPr lang="en-US" dirty="0"/>
              <a:t>Can be deployed to estimate battery life in portable electronics or drones.</a:t>
            </a:r>
          </a:p>
          <a:p>
            <a:pPr>
              <a:buNone/>
            </a:pPr>
            <a:r>
              <a:rPr lang="en-IN" b="1" dirty="0"/>
              <a:t>Sensor Error Correction</a:t>
            </a:r>
            <a:endParaRPr lang="en-IN" dirty="0"/>
          </a:p>
          <a:p>
            <a:pPr>
              <a:buFont typeface="Arial" panose="020B0604020202020204" pitchFamily="34" charset="0"/>
              <a:buChar char="•"/>
            </a:pPr>
            <a:r>
              <a:rPr lang="en-IN" dirty="0"/>
              <a:t>Corrects raw sensor readings (e.g., IR, thermistor, or IMU) using a trained FFNN that maps raw values to actual values.</a:t>
            </a:r>
          </a:p>
          <a:p>
            <a:pPr>
              <a:buFont typeface="Arial" panose="020B0604020202020204" pitchFamily="34" charset="0"/>
              <a:buChar char="•"/>
            </a:pPr>
            <a:r>
              <a:rPr lang="en-IN" dirty="0"/>
              <a:t>Especially useful for cheap or noisy </a:t>
            </a:r>
            <a:r>
              <a:rPr lang="en-IN" dirty="0" err="1"/>
              <a:t>analog</a:t>
            </a:r>
            <a:r>
              <a:rPr lang="en-IN" dirty="0"/>
              <a:t> sensors.</a:t>
            </a:r>
          </a:p>
          <a:p>
            <a:pPr>
              <a:buFont typeface="Arial" panose="020B0604020202020204" pitchFamily="34" charset="0"/>
              <a:buChar char="•"/>
            </a:pPr>
            <a:r>
              <a:rPr lang="en-IN" dirty="0"/>
              <a:t>Avoids hardcoding complex calibration curves or equations.</a:t>
            </a:r>
          </a:p>
          <a:p>
            <a:endParaRPr lang="en-IN" dirty="0"/>
          </a:p>
        </p:txBody>
      </p:sp>
      <p:sp>
        <p:nvSpPr>
          <p:cNvPr id="4" name="Content Placeholder 3">
            <a:extLst>
              <a:ext uri="{FF2B5EF4-FFF2-40B4-BE49-F238E27FC236}">
                <a16:creationId xmlns:a16="http://schemas.microsoft.com/office/drawing/2014/main" id="{EE7AF7ED-2D61-0253-8103-543F31587874}"/>
              </a:ext>
            </a:extLst>
          </p:cNvPr>
          <p:cNvSpPr>
            <a:spLocks noGrp="1"/>
          </p:cNvSpPr>
          <p:nvPr>
            <p:ph sz="half" idx="2"/>
          </p:nvPr>
        </p:nvSpPr>
        <p:spPr>
          <a:xfrm>
            <a:off x="6428935" y="1929947"/>
            <a:ext cx="5619211" cy="4705986"/>
          </a:xfrm>
        </p:spPr>
        <p:txBody>
          <a:bodyPr>
            <a:normAutofit fontScale="77500" lnSpcReduction="20000"/>
          </a:bodyPr>
          <a:lstStyle/>
          <a:p>
            <a:pPr>
              <a:buNone/>
            </a:pPr>
            <a:r>
              <a:rPr lang="en-IN" b="1" dirty="0"/>
              <a:t>Simple Environmental Classification System</a:t>
            </a:r>
            <a:endParaRPr lang="en-IN" dirty="0"/>
          </a:p>
          <a:p>
            <a:pPr>
              <a:buFont typeface="Arial" panose="020B0604020202020204" pitchFamily="34" charset="0"/>
              <a:buChar char="•"/>
            </a:pPr>
            <a:r>
              <a:rPr lang="en-IN" dirty="0"/>
              <a:t>Predicts environmental states like “safe” or “hazardous” based on multiple sensor inputs (gas, temperature, humidity).</a:t>
            </a:r>
          </a:p>
          <a:p>
            <a:pPr>
              <a:buFont typeface="Arial" panose="020B0604020202020204" pitchFamily="34" charset="0"/>
              <a:buChar char="•"/>
            </a:pPr>
            <a:r>
              <a:rPr lang="en-IN" dirty="0"/>
              <a:t>Easier and more flexible than static threshold logic.</a:t>
            </a:r>
          </a:p>
          <a:p>
            <a:pPr>
              <a:buNone/>
            </a:pPr>
            <a:r>
              <a:rPr lang="en-US" b="1" dirty="0"/>
              <a:t>Smart DC Motor Drivers</a:t>
            </a:r>
            <a:endParaRPr lang="en-US" dirty="0"/>
          </a:p>
          <a:p>
            <a:pPr marL="0" indent="0">
              <a:buNone/>
            </a:pPr>
            <a:r>
              <a:rPr lang="en-IN" dirty="0"/>
              <a:t>Can trained to drive more safely by determining voltage drop current draw and RPM. </a:t>
            </a:r>
          </a:p>
          <a:p>
            <a:pPr marL="0" indent="0">
              <a:buNone/>
            </a:pPr>
            <a:r>
              <a:rPr lang="en-IN" dirty="0"/>
              <a:t>Can be used to maintain linear relation between control signal and RPM or Torque.</a:t>
            </a:r>
          </a:p>
          <a:p>
            <a:pPr marL="0" indent="0">
              <a:buNone/>
            </a:pPr>
            <a:r>
              <a:rPr lang="en-US" dirty="0"/>
              <a:t>Helps avoid unstable behavior under varying loads, without needing complex PID tuning.</a:t>
            </a:r>
          </a:p>
          <a:p>
            <a:pPr marL="0" indent="0">
              <a:buNone/>
            </a:pPr>
            <a:endParaRPr lang="en-IN" dirty="0"/>
          </a:p>
          <a:p>
            <a:endParaRPr lang="en-IN" dirty="0"/>
          </a:p>
        </p:txBody>
      </p:sp>
    </p:spTree>
    <p:extLst>
      <p:ext uri="{BB962C8B-B14F-4D97-AF65-F5344CB8AC3E}">
        <p14:creationId xmlns:p14="http://schemas.microsoft.com/office/powerpoint/2010/main" val="17144712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0D1198-7B3D-AB9E-951E-32E139B05C69}"/>
              </a:ext>
            </a:extLst>
          </p:cNvPr>
          <p:cNvSpPr>
            <a:spLocks noGrp="1"/>
          </p:cNvSpPr>
          <p:nvPr>
            <p:ph type="title"/>
          </p:nvPr>
        </p:nvSpPr>
        <p:spPr/>
        <p:txBody>
          <a:bodyPr/>
          <a:lstStyle/>
          <a:p>
            <a:r>
              <a:rPr lang="en-US" dirty="0"/>
              <a:t>Objective of this project</a:t>
            </a:r>
            <a:endParaRPr lang="en-IN" dirty="0"/>
          </a:p>
        </p:txBody>
      </p:sp>
      <p:sp>
        <p:nvSpPr>
          <p:cNvPr id="3" name="Content Placeholder 2">
            <a:extLst>
              <a:ext uri="{FF2B5EF4-FFF2-40B4-BE49-F238E27FC236}">
                <a16:creationId xmlns:a16="http://schemas.microsoft.com/office/drawing/2014/main" id="{D313DFF8-0076-E110-575E-D140C0479654}"/>
              </a:ext>
            </a:extLst>
          </p:cNvPr>
          <p:cNvSpPr>
            <a:spLocks noGrp="1"/>
          </p:cNvSpPr>
          <p:nvPr>
            <p:ph idx="1"/>
          </p:nvPr>
        </p:nvSpPr>
        <p:spPr/>
        <p:txBody>
          <a:bodyPr/>
          <a:lstStyle/>
          <a:p>
            <a:r>
              <a:rPr lang="en-US" dirty="0"/>
              <a:t>The main objective of this project is to create a technique or framework to create a neural network, train it and implant it in </a:t>
            </a:r>
            <a:r>
              <a:rPr lang="en-US" dirty="0" err="1"/>
              <a:t>ATMega</a:t>
            </a:r>
            <a:r>
              <a:rPr lang="en-US" dirty="0"/>
              <a:t> 352p microcontroller (better known as Arduino UNO).</a:t>
            </a:r>
          </a:p>
          <a:p>
            <a:r>
              <a:rPr lang="en-US" dirty="0"/>
              <a:t>It involves deriving methods to create a feed forward neural network, train it using supervised learning, a method to store all parameters in a well structured manned or a file as well as handling low resources constraints of a microcontroller. </a:t>
            </a:r>
            <a:endParaRPr lang="en-IN" dirty="0"/>
          </a:p>
          <a:p>
            <a:endParaRPr lang="en-IN" dirty="0"/>
          </a:p>
        </p:txBody>
      </p:sp>
    </p:spTree>
    <p:extLst>
      <p:ext uri="{BB962C8B-B14F-4D97-AF65-F5344CB8AC3E}">
        <p14:creationId xmlns:p14="http://schemas.microsoft.com/office/powerpoint/2010/main" val="13593288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F4BD5-9906-C1BB-6194-5DB9579329C6}"/>
              </a:ext>
            </a:extLst>
          </p:cNvPr>
          <p:cNvSpPr>
            <a:spLocks noGrp="1"/>
          </p:cNvSpPr>
          <p:nvPr>
            <p:ph type="title"/>
          </p:nvPr>
        </p:nvSpPr>
        <p:spPr/>
        <p:txBody>
          <a:bodyPr/>
          <a:lstStyle/>
          <a:p>
            <a:r>
              <a:rPr lang="en-IN" dirty="0"/>
              <a:t>System Design &amp; Methodology</a:t>
            </a:r>
          </a:p>
        </p:txBody>
      </p:sp>
      <p:sp>
        <p:nvSpPr>
          <p:cNvPr id="3" name="Content Placeholder 2">
            <a:extLst>
              <a:ext uri="{FF2B5EF4-FFF2-40B4-BE49-F238E27FC236}">
                <a16:creationId xmlns:a16="http://schemas.microsoft.com/office/drawing/2014/main" id="{4BC9A348-CC44-F9DB-4AC0-F303016E27DC}"/>
              </a:ext>
            </a:extLst>
          </p:cNvPr>
          <p:cNvSpPr>
            <a:spLocks noGrp="1"/>
          </p:cNvSpPr>
          <p:nvPr>
            <p:ph idx="1"/>
          </p:nvPr>
        </p:nvSpPr>
        <p:spPr>
          <a:xfrm>
            <a:off x="1141412" y="1716258"/>
            <a:ext cx="9905999" cy="5141742"/>
          </a:xfrm>
        </p:spPr>
        <p:txBody>
          <a:bodyPr>
            <a:normAutofit fontScale="92500" lnSpcReduction="10000"/>
          </a:bodyPr>
          <a:lstStyle/>
          <a:p>
            <a:r>
              <a:rPr lang="en-US" dirty="0"/>
              <a:t>This frame work have multiple steps involved to implement neural network on Arduino like creation, training, storing, and implementing neural network.</a:t>
            </a:r>
          </a:p>
          <a:p>
            <a:r>
              <a:rPr lang="en-US" dirty="0"/>
              <a:t>1) Creation, training and storing:</a:t>
            </a:r>
          </a:p>
          <a:p>
            <a:r>
              <a:rPr lang="en-US" dirty="0"/>
              <a:t> This part of the frame work is written in python.</a:t>
            </a:r>
          </a:p>
          <a:p>
            <a:r>
              <a:rPr lang="en-US" dirty="0"/>
              <a:t>This program has a class </a:t>
            </a:r>
            <a:r>
              <a:rPr lang="en-US" dirty="0" err="1"/>
              <a:t>Neural_network</a:t>
            </a:r>
            <a:r>
              <a:rPr lang="en-US" dirty="0"/>
              <a:t> to create a neural network. This class manages Layers. This class has functions to create, store, update and read Layers of an existing model that is stored is a specific </a:t>
            </a:r>
            <a:r>
              <a:rPr lang="en-US" dirty="0" err="1"/>
              <a:t>formate</a:t>
            </a:r>
            <a:r>
              <a:rPr lang="en-US" dirty="0"/>
              <a:t> in a text file.</a:t>
            </a:r>
          </a:p>
          <a:p>
            <a:r>
              <a:rPr lang="en-US" dirty="0"/>
              <a:t>This class also has a function that can help store neural network parameters in a C/C++/Arduino C++ header file and this is what makes this frame work specially usable for embedded deep learning.</a:t>
            </a:r>
          </a:p>
          <a:p>
            <a:r>
              <a:rPr lang="en-IN" dirty="0"/>
              <a:t>This function directly accesses the “</a:t>
            </a:r>
            <a:r>
              <a:rPr lang="en-IN" dirty="0" err="1"/>
              <a:t>FFNN.h</a:t>
            </a:r>
            <a:r>
              <a:rPr lang="en-IN" dirty="0"/>
              <a:t>” header file stored in Arduino IDE’s library section and modify or assign parameters depending on the network architecture. </a:t>
            </a:r>
          </a:p>
        </p:txBody>
      </p:sp>
    </p:spTree>
    <p:extLst>
      <p:ext uri="{BB962C8B-B14F-4D97-AF65-F5344CB8AC3E}">
        <p14:creationId xmlns:p14="http://schemas.microsoft.com/office/powerpoint/2010/main" val="14805173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B3B77-28D0-47BA-42BC-7613017ECB8A}"/>
              </a:ext>
            </a:extLst>
          </p:cNvPr>
          <p:cNvSpPr>
            <a:spLocks noGrp="1"/>
          </p:cNvSpPr>
          <p:nvPr>
            <p:ph type="title"/>
          </p:nvPr>
        </p:nvSpPr>
        <p:spPr/>
        <p:txBody>
          <a:bodyPr/>
          <a:lstStyle/>
          <a:p>
            <a:r>
              <a:rPr lang="en-IN" dirty="0"/>
              <a:t>System Design &amp; Methodology</a:t>
            </a:r>
          </a:p>
        </p:txBody>
      </p:sp>
      <p:sp>
        <p:nvSpPr>
          <p:cNvPr id="3" name="Content Placeholder 2">
            <a:extLst>
              <a:ext uri="{FF2B5EF4-FFF2-40B4-BE49-F238E27FC236}">
                <a16:creationId xmlns:a16="http://schemas.microsoft.com/office/drawing/2014/main" id="{65D9F0E9-FF71-DDDC-C47E-A1D20075712B}"/>
              </a:ext>
            </a:extLst>
          </p:cNvPr>
          <p:cNvSpPr>
            <a:spLocks noGrp="1"/>
          </p:cNvSpPr>
          <p:nvPr>
            <p:ph idx="1"/>
          </p:nvPr>
        </p:nvSpPr>
        <p:spPr>
          <a:xfrm>
            <a:off x="1141412" y="1842868"/>
            <a:ext cx="9905999" cy="4614203"/>
          </a:xfrm>
        </p:spPr>
        <p:txBody>
          <a:bodyPr>
            <a:normAutofit/>
          </a:bodyPr>
          <a:lstStyle/>
          <a:p>
            <a:r>
              <a:rPr lang="en-IN" dirty="0"/>
              <a:t>In short it literally writes a header file program and stores it in FFNN package in Arduino IDE’s library folder, with parameters like weights and biases stored in arrays.</a:t>
            </a:r>
          </a:p>
          <a:p>
            <a:r>
              <a:rPr lang="en-IN" dirty="0"/>
              <a:t>This program also has functions that can performs forward propagation and back propagation and has two options to choose the type of optimisers to train the neural network.</a:t>
            </a:r>
          </a:p>
          <a:p>
            <a:r>
              <a:rPr lang="en-IN" dirty="0"/>
              <a:t>1) LRS (learning rate scheduling) with momentum, 2) Adam</a:t>
            </a:r>
          </a:p>
          <a:p>
            <a:r>
              <a:rPr lang="en-IN" dirty="0"/>
              <a:t>Currently the activation functions involved is </a:t>
            </a:r>
            <a:r>
              <a:rPr lang="en-IN" dirty="0" err="1"/>
              <a:t>ReLU</a:t>
            </a:r>
            <a:r>
              <a:rPr lang="en-IN" dirty="0"/>
              <a:t> (Rectified linear unit) but in future versions and updates will have options to choose an activation function.</a:t>
            </a:r>
          </a:p>
          <a:p>
            <a:endParaRPr lang="en-IN" dirty="0"/>
          </a:p>
        </p:txBody>
      </p:sp>
    </p:spTree>
    <p:extLst>
      <p:ext uri="{BB962C8B-B14F-4D97-AF65-F5344CB8AC3E}">
        <p14:creationId xmlns:p14="http://schemas.microsoft.com/office/powerpoint/2010/main" val="2840220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0AA3D1-8CFB-9771-4D33-E06ADBBE82CE}"/>
              </a:ext>
            </a:extLst>
          </p:cNvPr>
          <p:cNvSpPr>
            <a:spLocks noGrp="1"/>
          </p:cNvSpPr>
          <p:nvPr>
            <p:ph type="title"/>
          </p:nvPr>
        </p:nvSpPr>
        <p:spPr/>
        <p:txBody>
          <a:bodyPr/>
          <a:lstStyle/>
          <a:p>
            <a:r>
              <a:rPr lang="en-IN" dirty="0"/>
              <a:t>System Design &amp; Methodology</a:t>
            </a:r>
          </a:p>
        </p:txBody>
      </p:sp>
      <p:sp>
        <p:nvSpPr>
          <p:cNvPr id="3" name="Content Placeholder 2">
            <a:extLst>
              <a:ext uri="{FF2B5EF4-FFF2-40B4-BE49-F238E27FC236}">
                <a16:creationId xmlns:a16="http://schemas.microsoft.com/office/drawing/2014/main" id="{719BC6B0-B286-4D07-6AC3-9233323A8192}"/>
              </a:ext>
            </a:extLst>
          </p:cNvPr>
          <p:cNvSpPr>
            <a:spLocks noGrp="1"/>
          </p:cNvSpPr>
          <p:nvPr>
            <p:ph idx="1"/>
          </p:nvPr>
        </p:nvSpPr>
        <p:spPr/>
        <p:txBody>
          <a:bodyPr>
            <a:normAutofit fontScale="92500" lnSpcReduction="10000"/>
          </a:bodyPr>
          <a:lstStyle/>
          <a:p>
            <a:r>
              <a:rPr lang="en-US" dirty="0"/>
              <a:t>Arduino Implementation:</a:t>
            </a:r>
          </a:p>
          <a:p>
            <a:r>
              <a:rPr lang="en-US" dirty="0"/>
              <a:t>The main resource constrain on Arduino Uno is RAM and EEPROM.</a:t>
            </a:r>
          </a:p>
          <a:p>
            <a:r>
              <a:rPr lang="en-US" dirty="0"/>
              <a:t>Due to this hardware constrains the network array parameters are stored in flash memory Arduino. (As the variables stored in this memory are constant Back propagation or Reinforcement learning is not possible on this microcontroller) </a:t>
            </a:r>
          </a:p>
          <a:p>
            <a:r>
              <a:rPr lang="en-US" dirty="0"/>
              <a:t>The FFNN package stored in Arduino IDE’s library folder also contains a C++ file that defines a function that performs feed forward or forward propagation to implement the neural network.</a:t>
            </a:r>
          </a:p>
        </p:txBody>
      </p:sp>
    </p:spTree>
    <p:extLst>
      <p:ext uri="{BB962C8B-B14F-4D97-AF65-F5344CB8AC3E}">
        <p14:creationId xmlns:p14="http://schemas.microsoft.com/office/powerpoint/2010/main" val="2286946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6EC7A-1BEE-7E55-FAB3-23CD221A29E5}"/>
              </a:ext>
            </a:extLst>
          </p:cNvPr>
          <p:cNvSpPr>
            <a:spLocks noGrp="1"/>
          </p:cNvSpPr>
          <p:nvPr>
            <p:ph type="title"/>
          </p:nvPr>
        </p:nvSpPr>
        <p:spPr/>
        <p:txBody>
          <a:bodyPr/>
          <a:lstStyle/>
          <a:p>
            <a:r>
              <a:rPr lang="en-US" dirty="0"/>
              <a:t>Demonstration and result</a:t>
            </a:r>
            <a:endParaRPr lang="en-IN" dirty="0"/>
          </a:p>
        </p:txBody>
      </p:sp>
      <p:sp>
        <p:nvSpPr>
          <p:cNvPr id="3" name="Content Placeholder 2">
            <a:extLst>
              <a:ext uri="{FF2B5EF4-FFF2-40B4-BE49-F238E27FC236}">
                <a16:creationId xmlns:a16="http://schemas.microsoft.com/office/drawing/2014/main" id="{48C0EBDD-CA94-CCBE-D6E0-9A1B72D1E788}"/>
              </a:ext>
            </a:extLst>
          </p:cNvPr>
          <p:cNvSpPr>
            <a:spLocks noGrp="1"/>
          </p:cNvSpPr>
          <p:nvPr>
            <p:ph idx="1"/>
          </p:nvPr>
        </p:nvSpPr>
        <p:spPr/>
        <p:txBody>
          <a:bodyPr/>
          <a:lstStyle/>
          <a:p>
            <a:r>
              <a:rPr lang="en-US" dirty="0"/>
              <a:t>To demonstrate the working of the model A neural network was created and trained on house price, and rent data depending on different parameters like house age, square feet (area) and few other parameters that were present in dataset.</a:t>
            </a:r>
          </a:p>
          <a:p>
            <a:r>
              <a:rPr lang="en-US" dirty="0"/>
              <a:t>This demonstration is not based on real world application but instead just to demonstrate the implementation and working of the FFNN (feed forward neural network on Arduino).</a:t>
            </a:r>
            <a:endParaRPr lang="en-IN" dirty="0"/>
          </a:p>
        </p:txBody>
      </p:sp>
    </p:spTree>
    <p:extLst>
      <p:ext uri="{BB962C8B-B14F-4D97-AF65-F5344CB8AC3E}">
        <p14:creationId xmlns:p14="http://schemas.microsoft.com/office/powerpoint/2010/main" val="21771881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184B36-0D40-F498-B6F3-5F1B73B62962}"/>
              </a:ext>
            </a:extLst>
          </p:cNvPr>
          <p:cNvSpPr>
            <a:spLocks noGrp="1"/>
          </p:cNvSpPr>
          <p:nvPr>
            <p:ph type="title"/>
          </p:nvPr>
        </p:nvSpPr>
        <p:spPr>
          <a:xfrm>
            <a:off x="1143001" y="0"/>
            <a:ext cx="9905998" cy="1478570"/>
          </a:xfrm>
        </p:spPr>
        <p:txBody>
          <a:bodyPr/>
          <a:lstStyle/>
          <a:p>
            <a:r>
              <a:rPr lang="en-US" dirty="0"/>
              <a:t>Demonstration and result</a:t>
            </a:r>
            <a:endParaRPr lang="en-IN" dirty="0"/>
          </a:p>
        </p:txBody>
      </p:sp>
      <p:sp>
        <p:nvSpPr>
          <p:cNvPr id="4" name="TextBox 3">
            <a:extLst>
              <a:ext uri="{FF2B5EF4-FFF2-40B4-BE49-F238E27FC236}">
                <a16:creationId xmlns:a16="http://schemas.microsoft.com/office/drawing/2014/main" id="{18E5C5CB-90FB-9EC0-17DE-444CD3CDCAD8}"/>
              </a:ext>
            </a:extLst>
          </p:cNvPr>
          <p:cNvSpPr txBox="1"/>
          <p:nvPr/>
        </p:nvSpPr>
        <p:spPr>
          <a:xfrm>
            <a:off x="1143001" y="1028402"/>
            <a:ext cx="10054882" cy="6031523"/>
          </a:xfrm>
          <a:prstGeom prst="rect">
            <a:avLst/>
          </a:prstGeom>
          <a:solidFill>
            <a:schemeClr val="bg1">
              <a:lumMod val="95000"/>
              <a:lumOff val="5000"/>
            </a:schemeClr>
          </a:solidFill>
        </p:spPr>
        <p:txBody>
          <a:bodyPr wrap="square" rtlCol="0">
            <a:spAutoFit/>
          </a:bodyPr>
          <a:lstStyle/>
          <a:p>
            <a:pPr>
              <a:lnSpc>
                <a:spcPts val="1425"/>
              </a:lnSpc>
              <a:buNone/>
            </a:pPr>
            <a:r>
              <a:rPr lang="en-IN" b="0">
                <a:solidFill>
                  <a:srgbClr val="C586C0"/>
                </a:solidFill>
                <a:effectLst/>
                <a:latin typeface="Consolas" panose="020B0609020204030204" pitchFamily="49" charset="0"/>
              </a:rPr>
              <a:t>import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pandas</a:t>
            </a:r>
            <a:r>
              <a:rPr lang="en-IN" b="0">
                <a:solidFill>
                  <a:srgbClr val="CCCCCC"/>
                </a:solidFill>
                <a:effectLst/>
                <a:latin typeface="Consolas" panose="020B0609020204030204" pitchFamily="49" charset="0"/>
              </a:rPr>
              <a:t> </a:t>
            </a:r>
            <a:r>
              <a:rPr lang="en-IN" b="0">
                <a:solidFill>
                  <a:srgbClr val="C586C0"/>
                </a:solidFill>
                <a:effectLst/>
                <a:latin typeface="Consolas" panose="020B0609020204030204" pitchFamily="49" charset="0"/>
              </a:rPr>
              <a:t>as</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pd</a:t>
            </a:r>
            <a:endParaRPr lang="en-IN" b="0">
              <a:solidFill>
                <a:srgbClr val="CCCCCC"/>
              </a:solidFill>
              <a:effectLst/>
              <a:latin typeface="Consolas" panose="020B0609020204030204" pitchFamily="49" charset="0"/>
            </a:endParaRPr>
          </a:p>
          <a:p>
            <a:pPr>
              <a:lnSpc>
                <a:spcPts val="1425"/>
              </a:lnSpc>
              <a:buNone/>
            </a:pPr>
            <a:r>
              <a:rPr lang="en-IN" b="0">
                <a:solidFill>
                  <a:srgbClr val="C586C0"/>
                </a:solidFill>
                <a:effectLst/>
                <a:latin typeface="Consolas" panose="020B0609020204030204" pitchFamily="49" charset="0"/>
              </a:rPr>
              <a:t>import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Deep_learning</a:t>
            </a:r>
            <a:endParaRPr lang="en-IN" b="0">
              <a:solidFill>
                <a:srgbClr val="CCCCCC"/>
              </a:solidFill>
              <a:effectLst/>
              <a:latin typeface="Consolas" panose="020B0609020204030204" pitchFamily="49" charset="0"/>
            </a:endParaRPr>
          </a:p>
          <a:p>
            <a:pPr>
              <a:lnSpc>
                <a:spcPts val="1425"/>
              </a:lnSpc>
              <a:buNone/>
            </a:pPr>
            <a:r>
              <a:rPr lang="en-IN" b="0">
                <a:solidFill>
                  <a:srgbClr val="C586C0"/>
                </a:solidFill>
                <a:effectLst/>
                <a:latin typeface="Consolas" panose="020B0609020204030204" pitchFamily="49" charset="0"/>
              </a:rPr>
              <a:t>import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matplotlib</a:t>
            </a:r>
            <a:r>
              <a:rPr lang="en-IN" b="0">
                <a:solidFill>
                  <a:srgbClr val="CCCCCC"/>
                </a:solidFill>
                <a:effectLst/>
                <a:latin typeface="Consolas" panose="020B0609020204030204" pitchFamily="49" charset="0"/>
              </a:rPr>
              <a:t>.</a:t>
            </a:r>
            <a:r>
              <a:rPr lang="en-IN" b="0">
                <a:solidFill>
                  <a:srgbClr val="4EC9B0"/>
                </a:solidFill>
                <a:effectLst/>
                <a:latin typeface="Consolas" panose="020B0609020204030204" pitchFamily="49" charset="0"/>
              </a:rPr>
              <a:t>pyplot</a:t>
            </a:r>
            <a:r>
              <a:rPr lang="en-IN" b="0">
                <a:solidFill>
                  <a:srgbClr val="CCCCCC"/>
                </a:solidFill>
                <a:effectLst/>
                <a:latin typeface="Consolas" panose="020B0609020204030204" pitchFamily="49" charset="0"/>
              </a:rPr>
              <a:t> </a:t>
            </a:r>
            <a:r>
              <a:rPr lang="en-IN" b="0">
                <a:solidFill>
                  <a:srgbClr val="C586C0"/>
                </a:solidFill>
                <a:effectLst/>
                <a:latin typeface="Consolas" panose="020B0609020204030204" pitchFamily="49" charset="0"/>
              </a:rPr>
              <a:t>as</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plt</a:t>
            </a:r>
            <a:endParaRPr lang="en-IN" b="0">
              <a:solidFill>
                <a:srgbClr val="CCCCCC"/>
              </a:solidFill>
              <a:effectLst/>
              <a:latin typeface="Consolas" panose="020B0609020204030204" pitchFamily="49" charset="0"/>
            </a:endParaRPr>
          </a:p>
          <a:p>
            <a:pPr>
              <a:lnSpc>
                <a:spcPts val="1425"/>
              </a:lnSpc>
              <a:buNone/>
            </a:pPr>
            <a:br>
              <a:rPr lang="en-IN" b="0">
                <a:solidFill>
                  <a:srgbClr val="CCCCCC"/>
                </a:solidFill>
                <a:effectLst/>
                <a:latin typeface="Consolas" panose="020B0609020204030204" pitchFamily="49" charset="0"/>
              </a:rPr>
            </a:br>
            <a:r>
              <a:rPr lang="en-IN" b="0">
                <a:solidFill>
                  <a:srgbClr val="9CDCFE"/>
                </a:solidFill>
                <a:effectLst/>
                <a:latin typeface="Consolas" panose="020B0609020204030204" pitchFamily="49" charset="0"/>
              </a:rPr>
              <a:t>df</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pd</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read_csv</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"house_data_balanced.csv"</a:t>
            </a:r>
            <a:r>
              <a:rPr lang="en-IN" b="0">
                <a:solidFill>
                  <a:srgbClr val="CCCCCC"/>
                </a:solidFill>
                <a:effectLst/>
                <a:latin typeface="Consolas" panose="020B0609020204030204" pitchFamily="49" charset="0"/>
              </a:rPr>
              <a:t>)</a:t>
            </a:r>
          </a:p>
          <a:p>
            <a:pPr>
              <a:lnSpc>
                <a:spcPts val="1425"/>
              </a:lnSpc>
              <a:buNone/>
            </a:pPr>
            <a:br>
              <a:rPr lang="en-IN" b="0">
                <a:solidFill>
                  <a:srgbClr val="CCCCCC"/>
                </a:solidFill>
                <a:effectLst/>
                <a:latin typeface="Consolas" panose="020B0609020204030204" pitchFamily="49" charset="0"/>
              </a:rPr>
            </a:br>
            <a:r>
              <a:rPr lang="en-IN" b="0">
                <a:solidFill>
                  <a:srgbClr val="4FC1FF"/>
                </a:solidFill>
                <a:effectLst/>
                <a:latin typeface="Consolas" panose="020B0609020204030204" pitchFamily="49" charset="0"/>
              </a:rPr>
              <a:t>X</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df</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"square_feet"</a:t>
            </a:r>
            <a:r>
              <a:rPr lang="en-IN" b="0">
                <a:solidFill>
                  <a:srgbClr val="CCCCCC"/>
                </a:solidFill>
                <a:effectLst/>
                <a:latin typeface="Consolas" panose="020B0609020204030204" pitchFamily="49" charset="0"/>
              </a:rPr>
              <a:t>, </a:t>
            </a:r>
            <a:r>
              <a:rPr lang="en-IN" b="0">
                <a:solidFill>
                  <a:srgbClr val="CE9178"/>
                </a:solidFill>
                <a:effectLst/>
                <a:latin typeface="Consolas" panose="020B0609020204030204" pitchFamily="49" charset="0"/>
              </a:rPr>
              <a:t>"bedrooms"</a:t>
            </a:r>
            <a:r>
              <a:rPr lang="en-IN" b="0">
                <a:solidFill>
                  <a:srgbClr val="CCCCCC"/>
                </a:solidFill>
                <a:effectLst/>
                <a:latin typeface="Consolas" panose="020B0609020204030204" pitchFamily="49" charset="0"/>
              </a:rPr>
              <a:t>, </a:t>
            </a:r>
            <a:r>
              <a:rPr lang="en-IN" b="0">
                <a:solidFill>
                  <a:srgbClr val="CE9178"/>
                </a:solidFill>
                <a:effectLst/>
                <a:latin typeface="Consolas" panose="020B0609020204030204" pitchFamily="49" charset="0"/>
              </a:rPr>
              <a:t>"house_age"</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values</a:t>
            </a:r>
            <a:endParaRPr lang="en-IN" b="0">
              <a:solidFill>
                <a:srgbClr val="CCCCCC"/>
              </a:solidFill>
              <a:effectLst/>
              <a:latin typeface="Consolas" panose="020B0609020204030204" pitchFamily="49" charset="0"/>
            </a:endParaRPr>
          </a:p>
          <a:p>
            <a:pPr>
              <a:lnSpc>
                <a:spcPts val="1425"/>
              </a:lnSpc>
              <a:buNone/>
            </a:pPr>
            <a:r>
              <a:rPr lang="en-IN" b="0">
                <a:solidFill>
                  <a:srgbClr val="9CDCFE"/>
                </a:solidFill>
                <a:effectLst/>
                <a:latin typeface="Consolas" panose="020B0609020204030204" pitchFamily="49" charset="0"/>
              </a:rPr>
              <a:t>y</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df</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"price"</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"rent"</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values</a:t>
            </a:r>
            <a:r>
              <a:rPr lang="en-IN" b="0">
                <a:solidFill>
                  <a:srgbClr val="CCCCCC"/>
                </a:solidFill>
                <a:effectLst/>
                <a:latin typeface="Consolas" panose="020B0609020204030204" pitchFamily="49" charset="0"/>
              </a:rPr>
              <a:t>  </a:t>
            </a:r>
            <a:r>
              <a:rPr lang="en-IN" b="0">
                <a:solidFill>
                  <a:srgbClr val="6A9955"/>
                </a:solidFill>
                <a:effectLst/>
                <a:latin typeface="Consolas" panose="020B0609020204030204" pitchFamily="49" charset="0"/>
              </a:rPr>
              <a:t># 1D output</a:t>
            </a:r>
            <a:endParaRPr lang="en-IN" b="0">
              <a:solidFill>
                <a:srgbClr val="CCCCCC"/>
              </a:solidFill>
              <a:effectLst/>
              <a:latin typeface="Consolas" panose="020B0609020204030204" pitchFamily="49" charset="0"/>
            </a:endParaRPr>
          </a:p>
          <a:p>
            <a:pPr>
              <a:lnSpc>
                <a:spcPts val="1425"/>
              </a:lnSpc>
              <a:buNone/>
            </a:pPr>
            <a:br>
              <a:rPr lang="en-IN" b="0">
                <a:solidFill>
                  <a:srgbClr val="CCCCCC"/>
                </a:solidFill>
                <a:effectLst/>
                <a:latin typeface="Consolas" panose="020B0609020204030204" pitchFamily="49" charset="0"/>
              </a:rPr>
            </a:br>
            <a:r>
              <a:rPr lang="en-IN" b="0">
                <a:solidFill>
                  <a:srgbClr val="4FC1FF"/>
                </a:solidFill>
                <a:effectLst/>
                <a:latin typeface="Consolas" panose="020B0609020204030204" pitchFamily="49" charset="0"/>
              </a:rPr>
              <a:t>X</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4FC1FF"/>
                </a:solidFill>
                <a:effectLst/>
                <a:latin typeface="Consolas" panose="020B0609020204030204" pitchFamily="49" charset="0"/>
              </a:rPr>
              <a:t>X</a:t>
            </a:r>
            <a:r>
              <a:rPr lang="en-IN" b="0">
                <a:solidFill>
                  <a:srgbClr val="CCCCCC"/>
                </a:solidFill>
                <a:effectLst/>
                <a:latin typeface="Consolas" panose="020B0609020204030204" pitchFamily="49" charset="0"/>
              </a:rPr>
              <a:t> </a:t>
            </a:r>
            <a:r>
              <a:rPr lang="en-IN" b="0">
                <a:solidFill>
                  <a:srgbClr val="DCDCAA"/>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4FC1FF"/>
                </a:solidFill>
                <a:effectLst/>
                <a:latin typeface="Consolas" panose="020B0609020204030204" pitchFamily="49" charset="0"/>
              </a:rPr>
              <a:t>X</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mean</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axis</a:t>
            </a:r>
            <a:r>
              <a:rPr lang="en-IN" b="0">
                <a:solidFill>
                  <a:srgbClr val="D4D4D4"/>
                </a:solidFill>
                <a:effectLst/>
                <a:latin typeface="Consolas" panose="020B0609020204030204" pitchFamily="49" charset="0"/>
              </a:rPr>
              <a:t>=</a:t>
            </a:r>
            <a:r>
              <a:rPr lang="en-IN" b="0">
                <a:solidFill>
                  <a:srgbClr val="B5CEA8"/>
                </a:solidFill>
                <a:effectLst/>
                <a:latin typeface="Consolas" panose="020B0609020204030204" pitchFamily="49" charset="0"/>
              </a:rPr>
              <a:t>0</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4FC1FF"/>
                </a:solidFill>
                <a:effectLst/>
                <a:latin typeface="Consolas" panose="020B0609020204030204" pitchFamily="49" charset="0"/>
              </a:rPr>
              <a:t>X</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std</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axis</a:t>
            </a:r>
            <a:r>
              <a:rPr lang="en-IN" b="0">
                <a:solidFill>
                  <a:srgbClr val="D4D4D4"/>
                </a:solidFill>
                <a:effectLst/>
                <a:latin typeface="Consolas" panose="020B0609020204030204" pitchFamily="49" charset="0"/>
              </a:rPr>
              <a:t>=</a:t>
            </a:r>
            <a:r>
              <a:rPr lang="en-IN" b="0">
                <a:solidFill>
                  <a:srgbClr val="B5CEA8"/>
                </a:solidFill>
                <a:effectLst/>
                <a:latin typeface="Consolas" panose="020B0609020204030204" pitchFamily="49" charset="0"/>
              </a:rPr>
              <a:t>0</a:t>
            </a:r>
            <a:r>
              <a:rPr lang="en-IN" b="0">
                <a:solidFill>
                  <a:srgbClr val="CCCCCC"/>
                </a:solidFill>
                <a:effectLst/>
                <a:latin typeface="Consolas" panose="020B0609020204030204" pitchFamily="49" charset="0"/>
              </a:rPr>
              <a:t>)  </a:t>
            </a:r>
            <a:r>
              <a:rPr lang="en-IN" b="0">
                <a:solidFill>
                  <a:srgbClr val="6A9955"/>
                </a:solidFill>
                <a:effectLst/>
                <a:latin typeface="Consolas" panose="020B0609020204030204" pitchFamily="49" charset="0"/>
              </a:rPr>
              <a:t># Standardization</a:t>
            </a:r>
            <a:endParaRPr lang="en-IN" b="0">
              <a:solidFill>
                <a:srgbClr val="CCCCCC"/>
              </a:solidFill>
              <a:effectLst/>
              <a:latin typeface="Consolas" panose="020B0609020204030204" pitchFamily="49" charset="0"/>
            </a:endParaRPr>
          </a:p>
          <a:p>
            <a:pPr>
              <a:lnSpc>
                <a:spcPts val="1425"/>
              </a:lnSpc>
              <a:buNone/>
            </a:pPr>
            <a:r>
              <a:rPr lang="en-IN" b="0">
                <a:solidFill>
                  <a:srgbClr val="9CDCFE"/>
                </a:solidFill>
                <a:effectLst/>
                <a:latin typeface="Consolas" panose="020B0609020204030204" pitchFamily="49" charset="0"/>
              </a:rPr>
              <a:t>y</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y</a:t>
            </a:r>
            <a:r>
              <a:rPr lang="en-IN" b="0">
                <a:solidFill>
                  <a:srgbClr val="CCCCCC"/>
                </a:solidFill>
                <a:effectLst/>
                <a:latin typeface="Consolas" panose="020B0609020204030204" pitchFamily="49" charset="0"/>
              </a:rPr>
              <a:t> </a:t>
            </a:r>
            <a:r>
              <a:rPr lang="en-IN" b="0">
                <a:solidFill>
                  <a:srgbClr val="DCDCAA"/>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y</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mean</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axis</a:t>
            </a:r>
            <a:r>
              <a:rPr lang="en-IN" b="0">
                <a:solidFill>
                  <a:srgbClr val="D4D4D4"/>
                </a:solidFill>
                <a:effectLst/>
                <a:latin typeface="Consolas" panose="020B0609020204030204" pitchFamily="49" charset="0"/>
              </a:rPr>
              <a:t>=</a:t>
            </a:r>
            <a:r>
              <a:rPr lang="en-IN" b="0">
                <a:solidFill>
                  <a:srgbClr val="B5CEA8"/>
                </a:solidFill>
                <a:effectLst/>
                <a:latin typeface="Consolas" panose="020B0609020204030204" pitchFamily="49" charset="0"/>
              </a:rPr>
              <a:t>0</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y</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std</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axis</a:t>
            </a:r>
            <a:r>
              <a:rPr lang="en-IN" b="0">
                <a:solidFill>
                  <a:srgbClr val="D4D4D4"/>
                </a:solidFill>
                <a:effectLst/>
                <a:latin typeface="Consolas" panose="020B0609020204030204" pitchFamily="49" charset="0"/>
              </a:rPr>
              <a:t>=</a:t>
            </a:r>
            <a:r>
              <a:rPr lang="en-IN" b="0">
                <a:solidFill>
                  <a:srgbClr val="B5CEA8"/>
                </a:solidFill>
                <a:effectLst/>
                <a:latin typeface="Consolas" panose="020B0609020204030204" pitchFamily="49" charset="0"/>
              </a:rPr>
              <a:t>0</a:t>
            </a:r>
            <a:r>
              <a:rPr lang="en-IN" b="0">
                <a:solidFill>
                  <a:srgbClr val="CCCCCC"/>
                </a:solidFill>
                <a:effectLst/>
                <a:latin typeface="Consolas" panose="020B0609020204030204" pitchFamily="49" charset="0"/>
              </a:rPr>
              <a:t>)  </a:t>
            </a:r>
            <a:r>
              <a:rPr lang="en-IN" b="0">
                <a:solidFill>
                  <a:srgbClr val="6A9955"/>
                </a:solidFill>
                <a:effectLst/>
                <a:latin typeface="Consolas" panose="020B0609020204030204" pitchFamily="49" charset="0"/>
              </a:rPr>
              <a:t># Standardize output too</a:t>
            </a:r>
            <a:endParaRPr lang="en-IN" b="0">
              <a:solidFill>
                <a:srgbClr val="CCCCCC"/>
              </a:solidFill>
              <a:effectLst/>
              <a:latin typeface="Consolas" panose="020B0609020204030204" pitchFamily="49" charset="0"/>
            </a:endParaRPr>
          </a:p>
          <a:p>
            <a:pPr>
              <a:lnSpc>
                <a:spcPts val="1425"/>
              </a:lnSpc>
              <a:buNone/>
            </a:pPr>
            <a:br>
              <a:rPr lang="en-IN" b="0">
                <a:solidFill>
                  <a:srgbClr val="CCCCCC"/>
                </a:solidFill>
                <a:effectLst/>
                <a:latin typeface="Consolas" panose="020B0609020204030204" pitchFamily="49" charset="0"/>
              </a:rPr>
            </a:br>
            <a:r>
              <a:rPr lang="en-IN" b="0">
                <a:solidFill>
                  <a:srgbClr val="6A9955"/>
                </a:solidFill>
                <a:effectLst/>
                <a:latin typeface="Consolas" panose="020B0609020204030204" pitchFamily="49" charset="0"/>
              </a:rPr>
              <a:t># print(X, y)</a:t>
            </a:r>
            <a:endParaRPr lang="en-IN" b="0">
              <a:solidFill>
                <a:srgbClr val="CCCCCC"/>
              </a:solidFill>
              <a:effectLst/>
              <a:latin typeface="Consolas" panose="020B0609020204030204" pitchFamily="49" charset="0"/>
            </a:endParaRPr>
          </a:p>
          <a:p>
            <a:pPr>
              <a:lnSpc>
                <a:spcPts val="1425"/>
              </a:lnSpc>
              <a:buNone/>
            </a:pPr>
            <a:br>
              <a:rPr lang="en-IN" b="0">
                <a:solidFill>
                  <a:srgbClr val="CCCCCC"/>
                </a:solidFill>
                <a:effectLst/>
                <a:latin typeface="Consolas" panose="020B0609020204030204" pitchFamily="49" charset="0"/>
              </a:rPr>
            </a:br>
            <a:r>
              <a:rPr lang="en-IN" b="0">
                <a:solidFill>
                  <a:srgbClr val="9CDCFE"/>
                </a:solidFill>
                <a:effectLst/>
                <a:latin typeface="Consolas" panose="020B0609020204030204" pitchFamily="49" charset="0"/>
              </a:rPr>
              <a:t>my_network</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Deep_learning</a:t>
            </a:r>
            <a:r>
              <a:rPr lang="en-IN" b="0">
                <a:solidFill>
                  <a:srgbClr val="CCCCCC"/>
                </a:solidFill>
                <a:effectLst/>
                <a:latin typeface="Consolas" panose="020B0609020204030204" pitchFamily="49" charset="0"/>
              </a:rPr>
              <a:t>.</a:t>
            </a:r>
            <a:r>
              <a:rPr lang="en-IN" b="0">
                <a:solidFill>
                  <a:srgbClr val="4EC9B0"/>
                </a:solidFill>
                <a:effectLst/>
                <a:latin typeface="Consolas" panose="020B0609020204030204" pitchFamily="49" charset="0"/>
              </a:rPr>
              <a:t>Neural_network</a:t>
            </a:r>
            <a:r>
              <a:rPr lang="en-IN" b="0">
                <a:solidFill>
                  <a:srgbClr val="CCCCCC"/>
                </a:solidFill>
                <a:effectLst/>
                <a:latin typeface="Consolas" panose="020B0609020204030204" pitchFamily="49" charset="0"/>
              </a:rPr>
              <a:t>()</a:t>
            </a:r>
          </a:p>
          <a:p>
            <a:pPr>
              <a:lnSpc>
                <a:spcPts val="1425"/>
              </a:lnSpc>
              <a:buNone/>
            </a:pPr>
            <a:br>
              <a:rPr lang="en-IN" b="0">
                <a:solidFill>
                  <a:srgbClr val="CCCCCC"/>
                </a:solidFill>
                <a:effectLst/>
                <a:latin typeface="Consolas" panose="020B0609020204030204" pitchFamily="49" charset="0"/>
              </a:rPr>
            </a:br>
            <a:r>
              <a:rPr lang="en-IN" b="0">
                <a:solidFill>
                  <a:srgbClr val="9CDCFE"/>
                </a:solidFill>
                <a:effectLst/>
                <a:latin typeface="Consolas" panose="020B0609020204030204" pitchFamily="49" charset="0"/>
              </a:rPr>
              <a:t>params</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B5CEA8"/>
                </a:solidFill>
                <a:effectLst/>
                <a:latin typeface="Consolas" panose="020B0609020204030204" pitchFamily="49" charset="0"/>
              </a:rPr>
              <a:t>4</a:t>
            </a:r>
            <a:r>
              <a:rPr lang="en-IN" b="0">
                <a:solidFill>
                  <a:srgbClr val="CCCCCC"/>
                </a:solidFill>
                <a:effectLst/>
                <a:latin typeface="Consolas" panose="020B0609020204030204" pitchFamily="49" charset="0"/>
              </a:rPr>
              <a:t>, </a:t>
            </a:r>
            <a:r>
              <a:rPr lang="en-IN" b="0">
                <a:solidFill>
                  <a:srgbClr val="B5CEA8"/>
                </a:solidFill>
                <a:effectLst/>
                <a:latin typeface="Consolas" panose="020B0609020204030204" pitchFamily="49" charset="0"/>
              </a:rPr>
              <a:t>3</a:t>
            </a:r>
            <a:r>
              <a:rPr lang="en-IN" b="0">
                <a:solidFill>
                  <a:srgbClr val="CCCCCC"/>
                </a:solidFill>
                <a:effectLst/>
                <a:latin typeface="Consolas" panose="020B0609020204030204" pitchFamily="49" charset="0"/>
              </a:rPr>
              <a:t>, </a:t>
            </a:r>
            <a:r>
              <a:rPr lang="en-IN" b="0">
                <a:solidFill>
                  <a:srgbClr val="B5CEA8"/>
                </a:solidFill>
                <a:effectLst/>
                <a:latin typeface="Consolas" panose="020B0609020204030204" pitchFamily="49" charset="0"/>
              </a:rPr>
              <a:t>32</a:t>
            </a:r>
            <a:r>
              <a:rPr lang="en-IN" b="0">
                <a:solidFill>
                  <a:srgbClr val="CCCCCC"/>
                </a:solidFill>
                <a:effectLst/>
                <a:latin typeface="Consolas" panose="020B0609020204030204" pitchFamily="49" charset="0"/>
              </a:rPr>
              <a:t>, </a:t>
            </a:r>
            <a:r>
              <a:rPr lang="en-IN" b="0">
                <a:solidFill>
                  <a:srgbClr val="B5CEA8"/>
                </a:solidFill>
                <a:effectLst/>
                <a:latin typeface="Consolas" panose="020B0609020204030204" pitchFamily="49" charset="0"/>
              </a:rPr>
              <a:t>64</a:t>
            </a:r>
            <a:r>
              <a:rPr lang="en-IN" b="0">
                <a:solidFill>
                  <a:srgbClr val="CCCCCC"/>
                </a:solidFill>
                <a:effectLst/>
                <a:latin typeface="Consolas" panose="020B0609020204030204" pitchFamily="49" charset="0"/>
              </a:rPr>
              <a:t>, </a:t>
            </a:r>
            <a:r>
              <a:rPr lang="en-IN" b="0">
                <a:solidFill>
                  <a:srgbClr val="B5CEA8"/>
                </a:solidFill>
                <a:effectLst/>
                <a:latin typeface="Consolas" panose="020B0609020204030204" pitchFamily="49" charset="0"/>
              </a:rPr>
              <a:t>32</a:t>
            </a:r>
            <a:r>
              <a:rPr lang="en-IN" b="0">
                <a:solidFill>
                  <a:srgbClr val="CCCCCC"/>
                </a:solidFill>
                <a:effectLst/>
                <a:latin typeface="Consolas" panose="020B0609020204030204" pitchFamily="49" charset="0"/>
              </a:rPr>
              <a:t>, </a:t>
            </a:r>
            <a:r>
              <a:rPr lang="en-IN" b="0">
                <a:solidFill>
                  <a:srgbClr val="B5CEA8"/>
                </a:solidFill>
                <a:effectLst/>
                <a:latin typeface="Consolas" panose="020B0609020204030204" pitchFamily="49" charset="0"/>
              </a:rPr>
              <a:t>2</a:t>
            </a:r>
            <a:r>
              <a:rPr lang="en-IN" b="0">
                <a:solidFill>
                  <a:srgbClr val="CCCCCC"/>
                </a:solidFill>
                <a:effectLst/>
                <a:latin typeface="Consolas" panose="020B0609020204030204" pitchFamily="49" charset="0"/>
              </a:rPr>
              <a:t>]</a:t>
            </a:r>
          </a:p>
          <a:p>
            <a:pPr>
              <a:lnSpc>
                <a:spcPts val="1425"/>
              </a:lnSpc>
              <a:buNone/>
            </a:pPr>
            <a:r>
              <a:rPr lang="en-IN" b="0">
                <a:solidFill>
                  <a:srgbClr val="CCCCCC"/>
                </a:solidFill>
                <a:effectLst/>
                <a:latin typeface="Consolas" panose="020B0609020204030204" pitchFamily="49" charset="0"/>
              </a:rPr>
              <a:t> </a:t>
            </a:r>
            <a:r>
              <a:rPr lang="en-IN" b="0">
                <a:solidFill>
                  <a:srgbClr val="6A9955"/>
                </a:solidFill>
                <a:effectLst/>
                <a:latin typeface="Consolas" panose="020B0609020204030204" pitchFamily="49" charset="0"/>
              </a:rPr>
              <a:t># [num layers, input resolution, num neurons in L1, num neurons in L2, num neurons in L3, num neurons in L4]</a:t>
            </a:r>
            <a:endParaRPr lang="en-IN" b="0">
              <a:solidFill>
                <a:srgbClr val="CCCCCC"/>
              </a:solidFill>
              <a:effectLst/>
              <a:latin typeface="Consolas" panose="020B0609020204030204" pitchFamily="49" charset="0"/>
            </a:endParaRPr>
          </a:p>
          <a:p>
            <a:pPr>
              <a:lnSpc>
                <a:spcPts val="1425"/>
              </a:lnSpc>
              <a:buNone/>
            </a:pPr>
            <a:r>
              <a:rPr lang="en-IN" b="0">
                <a:solidFill>
                  <a:srgbClr val="9CDCFE"/>
                </a:solidFill>
                <a:effectLst/>
                <a:latin typeface="Consolas" panose="020B0609020204030204" pitchFamily="49" charset="0"/>
              </a:rPr>
              <a:t>my_network</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generate_random_network</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params</a:t>
            </a:r>
            <a:r>
              <a:rPr lang="en-IN" b="0">
                <a:solidFill>
                  <a:srgbClr val="CCCCCC"/>
                </a:solidFill>
                <a:effectLst/>
                <a:latin typeface="Consolas" panose="020B0609020204030204" pitchFamily="49" charset="0"/>
              </a:rPr>
              <a:t>)</a:t>
            </a:r>
          </a:p>
          <a:p>
            <a:pPr>
              <a:lnSpc>
                <a:spcPts val="1425"/>
              </a:lnSpc>
              <a:buNone/>
            </a:pPr>
            <a:br>
              <a:rPr lang="en-IN" b="0">
                <a:solidFill>
                  <a:srgbClr val="CCCCCC"/>
                </a:solidFill>
                <a:effectLst/>
                <a:latin typeface="Consolas" panose="020B0609020204030204" pitchFamily="49" charset="0"/>
              </a:rPr>
            </a:br>
            <a:r>
              <a:rPr lang="en-IN" b="0">
                <a:solidFill>
                  <a:srgbClr val="6A9955"/>
                </a:solidFill>
                <a:effectLst/>
                <a:latin typeface="Consolas" panose="020B0609020204030204" pitchFamily="49" charset="0"/>
              </a:rPr>
              <a:t># my_network.read_from_file_txt("my_network2")</a:t>
            </a:r>
            <a:endParaRPr lang="en-IN" b="0">
              <a:solidFill>
                <a:srgbClr val="CCCCCC"/>
              </a:solidFill>
              <a:effectLst/>
              <a:latin typeface="Consolas" panose="020B0609020204030204" pitchFamily="49" charset="0"/>
            </a:endParaRPr>
          </a:p>
          <a:p>
            <a:pPr>
              <a:lnSpc>
                <a:spcPts val="1425"/>
              </a:lnSpc>
              <a:buNone/>
            </a:pPr>
            <a:br>
              <a:rPr lang="en-IN" b="0">
                <a:solidFill>
                  <a:srgbClr val="CCCCCC"/>
                </a:solidFill>
                <a:effectLst/>
                <a:latin typeface="Consolas" panose="020B0609020204030204" pitchFamily="49" charset="0"/>
              </a:rPr>
            </a:br>
            <a:r>
              <a:rPr lang="en-IN" b="0">
                <a:solidFill>
                  <a:srgbClr val="9CDCFE"/>
                </a:solidFill>
                <a:effectLst/>
                <a:latin typeface="Consolas" panose="020B0609020204030204" pitchFamily="49" charset="0"/>
              </a:rPr>
              <a:t>costs</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Deep_learning</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back_prop</a:t>
            </a:r>
            <a:r>
              <a:rPr lang="en-IN" b="0">
                <a:solidFill>
                  <a:srgbClr val="CCCCCC"/>
                </a:solidFill>
                <a:effectLst/>
                <a:latin typeface="Consolas" panose="020B0609020204030204" pitchFamily="49" charset="0"/>
              </a:rPr>
              <a:t>(</a:t>
            </a:r>
            <a:r>
              <a:rPr lang="en-IN" b="0">
                <a:solidFill>
                  <a:srgbClr val="4FC1FF"/>
                </a:solidFill>
                <a:effectLst/>
                <a:latin typeface="Consolas" panose="020B0609020204030204" pitchFamily="49" charset="0"/>
              </a:rPr>
              <a:t>X</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y</a:t>
            </a:r>
            <a:r>
              <a:rPr lang="en-IN" b="0">
                <a:solidFill>
                  <a:srgbClr val="CCCCCC"/>
                </a:solidFill>
                <a:effectLst/>
                <a:latin typeface="Consolas" panose="020B0609020204030204" pitchFamily="49" charset="0"/>
              </a:rPr>
              <a:t>, </a:t>
            </a:r>
            <a:r>
              <a:rPr lang="en-IN" b="0">
                <a:solidFill>
                  <a:srgbClr val="B5CEA8"/>
                </a:solidFill>
                <a:effectLst/>
                <a:latin typeface="Consolas" panose="020B0609020204030204" pitchFamily="49" charset="0"/>
              </a:rPr>
              <a:t>0.001</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my_network</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layers</a:t>
            </a:r>
            <a:r>
              <a:rPr lang="en-IN" b="0">
                <a:solidFill>
                  <a:srgbClr val="CCCCCC"/>
                </a:solidFill>
                <a:effectLst/>
                <a:latin typeface="Consolas" panose="020B0609020204030204" pitchFamily="49" charset="0"/>
              </a:rPr>
              <a:t>, </a:t>
            </a:r>
            <a:r>
              <a:rPr lang="en-IN" b="0">
                <a:solidFill>
                  <a:srgbClr val="CE9178"/>
                </a:solidFill>
                <a:effectLst/>
                <a:latin typeface="Consolas" panose="020B0609020204030204" pitchFamily="49" charset="0"/>
              </a:rPr>
              <a:t>"Adam"</a:t>
            </a:r>
            <a:r>
              <a:rPr lang="en-IN" b="0">
                <a:solidFill>
                  <a:srgbClr val="CCCCCC"/>
                </a:solidFill>
                <a:effectLst/>
                <a:latin typeface="Consolas" panose="020B0609020204030204" pitchFamily="49" charset="0"/>
              </a:rPr>
              <a:t>)</a:t>
            </a:r>
          </a:p>
          <a:p>
            <a:pPr>
              <a:lnSpc>
                <a:spcPts val="1425"/>
              </a:lnSpc>
              <a:buNone/>
            </a:pPr>
            <a:br>
              <a:rPr lang="en-IN" b="0">
                <a:solidFill>
                  <a:srgbClr val="CCCCCC"/>
                </a:solidFill>
                <a:effectLst/>
                <a:latin typeface="Consolas" panose="020B0609020204030204" pitchFamily="49" charset="0"/>
              </a:rPr>
            </a:br>
            <a:r>
              <a:rPr lang="en-IN" b="0">
                <a:solidFill>
                  <a:srgbClr val="4EC9B0"/>
                </a:solidFill>
                <a:effectLst/>
                <a:latin typeface="Consolas" panose="020B0609020204030204" pitchFamily="49" charset="0"/>
              </a:rPr>
              <a:t>plt</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plot</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costs</a:t>
            </a:r>
            <a:r>
              <a:rPr lang="en-IN" b="0">
                <a:solidFill>
                  <a:srgbClr val="CCCCCC"/>
                </a:solidFill>
                <a:effectLst/>
                <a:latin typeface="Consolas" panose="020B0609020204030204" pitchFamily="49" charset="0"/>
              </a:rPr>
              <a:t>)</a:t>
            </a:r>
          </a:p>
          <a:p>
            <a:pPr>
              <a:lnSpc>
                <a:spcPts val="1425"/>
              </a:lnSpc>
              <a:buNone/>
            </a:pPr>
            <a:r>
              <a:rPr lang="en-IN" b="0">
                <a:solidFill>
                  <a:srgbClr val="4EC9B0"/>
                </a:solidFill>
                <a:effectLst/>
                <a:latin typeface="Consolas" panose="020B0609020204030204" pitchFamily="49" charset="0"/>
              </a:rPr>
              <a:t>plt</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show</a:t>
            </a:r>
            <a:r>
              <a:rPr lang="en-IN" b="0">
                <a:solidFill>
                  <a:srgbClr val="CCCCCC"/>
                </a:solidFill>
                <a:effectLst/>
                <a:latin typeface="Consolas" panose="020B0609020204030204" pitchFamily="49" charset="0"/>
              </a:rPr>
              <a:t>()</a:t>
            </a:r>
          </a:p>
          <a:p>
            <a:pPr>
              <a:lnSpc>
                <a:spcPts val="1425"/>
              </a:lnSpc>
              <a:buNone/>
            </a:pPr>
            <a:br>
              <a:rPr lang="en-IN" b="0">
                <a:solidFill>
                  <a:srgbClr val="CCCCCC"/>
                </a:solidFill>
                <a:effectLst/>
                <a:latin typeface="Consolas" panose="020B0609020204030204" pitchFamily="49" charset="0"/>
              </a:rPr>
            </a:br>
            <a:r>
              <a:rPr lang="en-IN" b="0">
                <a:solidFill>
                  <a:srgbClr val="9CDCFE"/>
                </a:solidFill>
                <a:effectLst/>
                <a:latin typeface="Consolas" panose="020B0609020204030204" pitchFamily="49" charset="0"/>
              </a:rPr>
              <a:t>my_network</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update_network_file_txt</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"my_network2"</a:t>
            </a:r>
            <a:r>
              <a:rPr lang="en-IN" b="0">
                <a:solidFill>
                  <a:srgbClr val="CCCCCC"/>
                </a:solidFill>
                <a:effectLst/>
                <a:latin typeface="Consolas" panose="020B0609020204030204" pitchFamily="49" charset="0"/>
              </a:rPr>
              <a:t>)</a:t>
            </a:r>
          </a:p>
          <a:p>
            <a:pPr>
              <a:lnSpc>
                <a:spcPts val="1425"/>
              </a:lnSpc>
              <a:buNone/>
            </a:pPr>
            <a:r>
              <a:rPr lang="en-IN" b="0">
                <a:solidFill>
                  <a:srgbClr val="9CDCFE"/>
                </a:solidFill>
                <a:effectLst/>
                <a:latin typeface="Consolas" panose="020B0609020204030204" pitchFamily="49" charset="0"/>
              </a:rPr>
              <a:t>my_network</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update_network_file_ino</a:t>
            </a:r>
            <a:r>
              <a:rPr lang="en-IN" b="0">
                <a:solidFill>
                  <a:srgbClr val="CCCCCC"/>
                </a:solidFill>
                <a:effectLst/>
                <a:latin typeface="Consolas" panose="020B0609020204030204" pitchFamily="49" charset="0"/>
              </a:rPr>
              <a:t>()</a:t>
            </a:r>
          </a:p>
          <a:p>
            <a:pPr>
              <a:lnSpc>
                <a:spcPts val="1425"/>
              </a:lnSpc>
              <a:buNone/>
            </a:pPr>
            <a:r>
              <a:rPr lang="en-IN" b="0">
                <a:solidFill>
                  <a:srgbClr val="9CDCFE"/>
                </a:solidFill>
                <a:effectLst/>
                <a:latin typeface="Consolas" panose="020B0609020204030204" pitchFamily="49" charset="0"/>
              </a:rPr>
              <a:t>my_network</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update_network_file_cpp</a:t>
            </a:r>
            <a:r>
              <a:rPr lang="en-IN" b="0">
                <a:solidFill>
                  <a:srgbClr val="CCCCCC"/>
                </a:solidFill>
                <a:effectLst/>
                <a:latin typeface="Consolas" panose="020B0609020204030204" pitchFamily="49" charset="0"/>
              </a:rPr>
              <a:t>()</a:t>
            </a:r>
          </a:p>
          <a:p>
            <a:pPr>
              <a:lnSpc>
                <a:spcPts val="1425"/>
              </a:lnSpc>
            </a:pPr>
            <a:br>
              <a:rPr lang="en-IN" b="0">
                <a:solidFill>
                  <a:srgbClr val="CCCCCC"/>
                </a:solidFill>
                <a:effectLst/>
                <a:latin typeface="Consolas" panose="020B0609020204030204" pitchFamily="49" charset="0"/>
              </a:rPr>
            </a:br>
            <a:r>
              <a:rPr lang="en-IN" b="0">
                <a:solidFill>
                  <a:srgbClr val="6A9955"/>
                </a:solidFill>
                <a:effectLst/>
                <a:latin typeface="Consolas" panose="020B0609020204030204" pitchFamily="49" charset="0"/>
              </a:rPr>
              <a:t># network_output = Deep_learning.forward_prop(my_network.layers, X)</a:t>
            </a:r>
            <a:endParaRPr lang="en-IN" b="0">
              <a:solidFill>
                <a:srgbClr val="CCCCCC"/>
              </a:solidFill>
              <a:effectLst/>
              <a:latin typeface="Consolas" panose="020B0609020204030204" pitchFamily="49" charset="0"/>
            </a:endParaRPr>
          </a:p>
        </p:txBody>
      </p:sp>
    </p:spTree>
    <p:extLst>
      <p:ext uri="{BB962C8B-B14F-4D97-AF65-F5344CB8AC3E}">
        <p14:creationId xmlns:p14="http://schemas.microsoft.com/office/powerpoint/2010/main" val="16388819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BF5E63-E8D2-3E27-6542-304DB26712E7}"/>
              </a:ext>
            </a:extLst>
          </p:cNvPr>
          <p:cNvSpPr>
            <a:spLocks noGrp="1"/>
          </p:cNvSpPr>
          <p:nvPr>
            <p:ph type="title"/>
          </p:nvPr>
        </p:nvSpPr>
        <p:spPr/>
        <p:txBody>
          <a:bodyPr/>
          <a:lstStyle/>
          <a:p>
            <a:r>
              <a:rPr lang="en-US" dirty="0"/>
              <a:t>Demonstration and result</a:t>
            </a:r>
            <a:endParaRPr lang="en-IN" dirty="0"/>
          </a:p>
        </p:txBody>
      </p:sp>
      <p:sp>
        <p:nvSpPr>
          <p:cNvPr id="3" name="Content Placeholder 2">
            <a:extLst>
              <a:ext uri="{FF2B5EF4-FFF2-40B4-BE49-F238E27FC236}">
                <a16:creationId xmlns:a16="http://schemas.microsoft.com/office/drawing/2014/main" id="{781F6BAA-FFB2-26DC-7A1F-C8C962439828}"/>
              </a:ext>
            </a:extLst>
          </p:cNvPr>
          <p:cNvSpPr>
            <a:spLocks noGrp="1"/>
          </p:cNvSpPr>
          <p:nvPr>
            <p:ph idx="1"/>
          </p:nvPr>
        </p:nvSpPr>
        <p:spPr/>
        <p:txBody>
          <a:bodyPr/>
          <a:lstStyle/>
          <a:p>
            <a:r>
              <a:rPr lang="en-US" dirty="0"/>
              <a:t>The above provided code was a python code that generates a neural network with four layers and an input layer with 3 inputs.</a:t>
            </a:r>
          </a:p>
          <a:p>
            <a:r>
              <a:rPr lang="en-US" dirty="0"/>
              <a:t> It uses back prop function to train the neural network and also get the list of cost to see how the cost function decreases over the period of time.</a:t>
            </a:r>
          </a:p>
          <a:p>
            <a:r>
              <a:rPr lang="en-IN" dirty="0"/>
              <a:t>At last it uses update function to store neural network in multiple files like a C++ header file, text file and Arduino header file.</a:t>
            </a:r>
          </a:p>
        </p:txBody>
      </p:sp>
    </p:spTree>
    <p:extLst>
      <p:ext uri="{BB962C8B-B14F-4D97-AF65-F5344CB8AC3E}">
        <p14:creationId xmlns:p14="http://schemas.microsoft.com/office/powerpoint/2010/main" val="8220120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890AB-FAF5-9C8A-2637-950C1C58E298}"/>
              </a:ext>
            </a:extLst>
          </p:cNvPr>
          <p:cNvSpPr>
            <a:spLocks noGrp="1"/>
          </p:cNvSpPr>
          <p:nvPr>
            <p:ph type="title"/>
          </p:nvPr>
        </p:nvSpPr>
        <p:spPr/>
        <p:txBody>
          <a:bodyPr/>
          <a:lstStyle/>
          <a:p>
            <a:r>
              <a:rPr lang="en-US" dirty="0"/>
              <a:t>Demonstration and result</a:t>
            </a:r>
            <a:endParaRPr lang="en-IN" dirty="0"/>
          </a:p>
        </p:txBody>
      </p:sp>
      <p:sp>
        <p:nvSpPr>
          <p:cNvPr id="3" name="TextBox 2">
            <a:extLst>
              <a:ext uri="{FF2B5EF4-FFF2-40B4-BE49-F238E27FC236}">
                <a16:creationId xmlns:a16="http://schemas.microsoft.com/office/drawing/2014/main" id="{2BF4B8B4-F1DA-0F41-9F1A-C66193B6C65B}"/>
              </a:ext>
            </a:extLst>
          </p:cNvPr>
          <p:cNvSpPr txBox="1"/>
          <p:nvPr/>
        </p:nvSpPr>
        <p:spPr>
          <a:xfrm>
            <a:off x="3546988" y="2097088"/>
            <a:ext cx="3207433" cy="1902187"/>
          </a:xfrm>
          <a:prstGeom prst="rect">
            <a:avLst/>
          </a:prstGeom>
          <a:solidFill>
            <a:schemeClr val="bg1">
              <a:lumMod val="95000"/>
              <a:lumOff val="5000"/>
            </a:schemeClr>
          </a:solidFill>
        </p:spPr>
        <p:txBody>
          <a:bodyPr wrap="square" rtlCol="0">
            <a:spAutoFit/>
          </a:bodyPr>
          <a:lstStyle/>
          <a:p>
            <a:pPr>
              <a:lnSpc>
                <a:spcPts val="1425"/>
              </a:lnSpc>
              <a:buNone/>
            </a:pPr>
            <a:r>
              <a:rPr lang="en-IN" b="0">
                <a:solidFill>
                  <a:srgbClr val="C586C0"/>
                </a:solidFill>
                <a:effectLst/>
                <a:latin typeface="Consolas" panose="020B0609020204030204" pitchFamily="49" charset="0"/>
              </a:rPr>
              <a:t>#include</a:t>
            </a:r>
            <a:r>
              <a:rPr lang="en-IN" b="0">
                <a:solidFill>
                  <a:srgbClr val="7FCBCD"/>
                </a:solidFill>
                <a:effectLst/>
                <a:latin typeface="Consolas" panose="020B0609020204030204" pitchFamily="49" charset="0"/>
              </a:rPr>
              <a:t>&lt;FFNN_avr.h&gt;</a:t>
            </a:r>
            <a:endParaRPr lang="en-IN" b="0">
              <a:solidFill>
                <a:srgbClr val="DAE3E3"/>
              </a:solidFill>
              <a:effectLst/>
              <a:latin typeface="Consolas" panose="020B0609020204030204" pitchFamily="49" charset="0"/>
            </a:endParaRPr>
          </a:p>
          <a:p>
            <a:pPr>
              <a:lnSpc>
                <a:spcPts val="1425"/>
              </a:lnSpc>
              <a:buNone/>
            </a:pPr>
            <a:br>
              <a:rPr lang="en-IN" b="0">
                <a:solidFill>
                  <a:srgbClr val="DAE3E3"/>
                </a:solidFill>
                <a:effectLst/>
                <a:latin typeface="Consolas" panose="020B0609020204030204" pitchFamily="49" charset="0"/>
              </a:rPr>
            </a:br>
            <a:r>
              <a:rPr lang="en-IN" b="0">
                <a:solidFill>
                  <a:srgbClr val="0CA1A6"/>
                </a:solidFill>
                <a:effectLst/>
                <a:latin typeface="Consolas" panose="020B0609020204030204" pitchFamily="49" charset="0"/>
              </a:rPr>
              <a:t>float</a:t>
            </a:r>
            <a:r>
              <a:rPr lang="en-IN" b="0">
                <a:solidFill>
                  <a:srgbClr val="DAE3E3"/>
                </a:solidFill>
                <a:effectLst/>
                <a:latin typeface="Consolas" panose="020B0609020204030204" pitchFamily="49" charset="0"/>
              </a:rPr>
              <a:t> </a:t>
            </a:r>
            <a:r>
              <a:rPr lang="en-IN" b="0">
                <a:solidFill>
                  <a:srgbClr val="F39C12"/>
                </a:solidFill>
                <a:effectLst/>
                <a:latin typeface="Consolas" panose="020B0609020204030204" pitchFamily="49" charset="0"/>
              </a:rPr>
              <a:t>input_value</a:t>
            </a:r>
            <a:r>
              <a:rPr lang="en-IN" b="0">
                <a:solidFill>
                  <a:srgbClr val="DAE3E3"/>
                </a:solidFill>
                <a:effectLst/>
                <a:latin typeface="Consolas" panose="020B0609020204030204" pitchFamily="49" charset="0"/>
              </a:rPr>
              <a:t>[</a:t>
            </a:r>
            <a:r>
              <a:rPr lang="en-IN" b="0">
                <a:solidFill>
                  <a:srgbClr val="7FCBCD"/>
                </a:solidFill>
                <a:effectLst/>
                <a:latin typeface="Consolas" panose="020B0609020204030204" pitchFamily="49" charset="0"/>
              </a:rPr>
              <a:t>3</a:t>
            </a:r>
            <a:r>
              <a:rPr lang="en-IN" b="0">
                <a:solidFill>
                  <a:srgbClr val="DAE3E3"/>
                </a:solidFill>
                <a:effectLst/>
                <a:latin typeface="Consolas" panose="020B0609020204030204" pitchFamily="49" charset="0"/>
              </a:rPr>
              <a:t>];</a:t>
            </a:r>
          </a:p>
          <a:p>
            <a:pPr>
              <a:lnSpc>
                <a:spcPts val="1425"/>
              </a:lnSpc>
              <a:buNone/>
            </a:pPr>
            <a:br>
              <a:rPr lang="en-IN" b="0">
                <a:solidFill>
                  <a:srgbClr val="DAE3E3"/>
                </a:solidFill>
                <a:effectLst/>
                <a:latin typeface="Consolas" panose="020B0609020204030204" pitchFamily="49" charset="0"/>
              </a:rPr>
            </a:br>
            <a:r>
              <a:rPr lang="en-IN" b="0">
                <a:solidFill>
                  <a:srgbClr val="0CA1A6"/>
                </a:solidFill>
                <a:effectLst/>
                <a:latin typeface="Consolas" panose="020B0609020204030204" pitchFamily="49" charset="0"/>
              </a:rPr>
              <a:t>void</a:t>
            </a:r>
            <a:r>
              <a:rPr lang="en-IN" b="0">
                <a:solidFill>
                  <a:srgbClr val="DAE3E3"/>
                </a:solidFill>
                <a:effectLst/>
                <a:latin typeface="Consolas" panose="020B0609020204030204" pitchFamily="49" charset="0"/>
              </a:rPr>
              <a:t> </a:t>
            </a:r>
            <a:r>
              <a:rPr lang="en-IN" b="0">
                <a:solidFill>
                  <a:srgbClr val="F39C12"/>
                </a:solidFill>
                <a:effectLst/>
                <a:latin typeface="Consolas" panose="020B0609020204030204" pitchFamily="49" charset="0"/>
              </a:rPr>
              <a:t>setup</a:t>
            </a:r>
            <a:r>
              <a:rPr lang="en-IN" b="0">
                <a:solidFill>
                  <a:srgbClr val="DAE3E3"/>
                </a:solidFill>
                <a:effectLst/>
                <a:latin typeface="Consolas" panose="020B0609020204030204" pitchFamily="49" charset="0"/>
              </a:rPr>
              <a:t>() {</a:t>
            </a:r>
          </a:p>
          <a:p>
            <a:pPr>
              <a:lnSpc>
                <a:spcPts val="1425"/>
              </a:lnSpc>
              <a:buNone/>
            </a:pPr>
            <a:r>
              <a:rPr lang="en-IN" b="0">
                <a:solidFill>
                  <a:srgbClr val="DAE3E3"/>
                </a:solidFill>
                <a:effectLst/>
                <a:latin typeface="Consolas" panose="020B0609020204030204" pitchFamily="49" charset="0"/>
              </a:rPr>
              <a:t>  </a:t>
            </a:r>
            <a:r>
              <a:rPr lang="en-IN" b="0">
                <a:solidFill>
                  <a:srgbClr val="F39C12"/>
                </a:solidFill>
                <a:effectLst/>
                <a:latin typeface="Consolas" panose="020B0609020204030204" pitchFamily="49" charset="0"/>
              </a:rPr>
              <a:t>Serial</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begin</a:t>
            </a:r>
            <a:r>
              <a:rPr lang="en-IN" b="0">
                <a:solidFill>
                  <a:srgbClr val="DAE3E3"/>
                </a:solidFill>
                <a:effectLst/>
                <a:latin typeface="Consolas" panose="020B0609020204030204" pitchFamily="49" charset="0"/>
              </a:rPr>
              <a:t>(</a:t>
            </a:r>
            <a:r>
              <a:rPr lang="en-IN" b="0">
                <a:solidFill>
                  <a:srgbClr val="7FCBCD"/>
                </a:solidFill>
                <a:effectLst/>
                <a:latin typeface="Consolas" panose="020B0609020204030204" pitchFamily="49" charset="0"/>
              </a:rPr>
              <a:t>9600</a:t>
            </a:r>
            <a:r>
              <a:rPr lang="en-IN" b="0">
                <a:solidFill>
                  <a:srgbClr val="DAE3E3"/>
                </a:solidFill>
                <a:effectLst/>
                <a:latin typeface="Consolas" panose="020B0609020204030204" pitchFamily="49" charset="0"/>
              </a:rPr>
              <a:t>);</a:t>
            </a:r>
          </a:p>
          <a:p>
            <a:pPr>
              <a:lnSpc>
                <a:spcPts val="1425"/>
              </a:lnSpc>
              <a:buNone/>
            </a:pPr>
            <a:r>
              <a:rPr lang="en-IN" b="0">
                <a:solidFill>
                  <a:srgbClr val="DAE3E3"/>
                </a:solidFill>
                <a:effectLst/>
                <a:latin typeface="Consolas" panose="020B0609020204030204" pitchFamily="49" charset="0"/>
              </a:rPr>
              <a:t>  </a:t>
            </a:r>
            <a:r>
              <a:rPr lang="en-IN" b="0">
                <a:solidFill>
                  <a:srgbClr val="C586C0"/>
                </a:solidFill>
                <a:effectLst/>
                <a:latin typeface="Consolas" panose="020B0609020204030204" pitchFamily="49" charset="0"/>
              </a:rPr>
              <a:t>while</a:t>
            </a:r>
            <a:r>
              <a:rPr lang="en-IN" b="0">
                <a:solidFill>
                  <a:srgbClr val="DAE3E3"/>
                </a:solidFill>
                <a:effectLst/>
                <a:latin typeface="Consolas" panose="020B0609020204030204" pitchFamily="49" charset="0"/>
              </a:rPr>
              <a:t>(!Serial);</a:t>
            </a:r>
          </a:p>
          <a:p>
            <a:pPr>
              <a:lnSpc>
                <a:spcPts val="1425"/>
              </a:lnSpc>
              <a:buNone/>
            </a:pPr>
            <a:r>
              <a:rPr lang="en-IN" b="0">
                <a:solidFill>
                  <a:srgbClr val="DAE3E3"/>
                </a:solidFill>
                <a:effectLst/>
                <a:latin typeface="Consolas" panose="020B0609020204030204" pitchFamily="49" charset="0"/>
              </a:rPr>
              <a:t>}</a:t>
            </a:r>
          </a:p>
          <a:p>
            <a:pPr>
              <a:lnSpc>
                <a:spcPts val="1425"/>
              </a:lnSpc>
            </a:pPr>
            <a:br>
              <a:rPr lang="en-IN" b="0">
                <a:solidFill>
                  <a:srgbClr val="DAE3E3"/>
                </a:solidFill>
                <a:effectLst/>
                <a:latin typeface="Consolas" panose="020B0609020204030204" pitchFamily="49" charset="0"/>
              </a:rPr>
            </a:br>
            <a:endParaRPr lang="en-IN" b="0">
              <a:solidFill>
                <a:srgbClr val="DAE3E3"/>
              </a:solidFill>
              <a:effectLst/>
              <a:latin typeface="Consolas" panose="020B0609020204030204" pitchFamily="49" charset="0"/>
            </a:endParaRPr>
          </a:p>
        </p:txBody>
      </p:sp>
      <p:sp>
        <p:nvSpPr>
          <p:cNvPr id="4" name="TextBox 3">
            <a:extLst>
              <a:ext uri="{FF2B5EF4-FFF2-40B4-BE49-F238E27FC236}">
                <a16:creationId xmlns:a16="http://schemas.microsoft.com/office/drawing/2014/main" id="{55FE6032-2E74-2750-D5DD-BF54D9DA3D4F}"/>
              </a:ext>
            </a:extLst>
          </p:cNvPr>
          <p:cNvSpPr txBox="1"/>
          <p:nvPr/>
        </p:nvSpPr>
        <p:spPr>
          <a:xfrm>
            <a:off x="1768596" y="4323683"/>
            <a:ext cx="7695028" cy="2308324"/>
          </a:xfrm>
          <a:prstGeom prst="rect">
            <a:avLst/>
          </a:prstGeom>
          <a:noFill/>
        </p:spPr>
        <p:txBody>
          <a:bodyPr wrap="square" rtlCol="0">
            <a:spAutoFit/>
          </a:bodyPr>
          <a:lstStyle/>
          <a:p>
            <a:r>
              <a:rPr lang="en-US" sz="2400" dirty="0"/>
              <a:t>In the above given block of Arduino code </a:t>
            </a:r>
            <a:r>
              <a:rPr lang="en-US" sz="2400" dirty="0" err="1"/>
              <a:t>FFNN_avr</a:t>
            </a:r>
            <a:r>
              <a:rPr lang="en-US" sz="2400" dirty="0"/>
              <a:t> header file is included that contains the parameters of neural network and a function to implement forward propagation. </a:t>
            </a:r>
          </a:p>
          <a:p>
            <a:r>
              <a:rPr lang="en-US" sz="2400" dirty="0"/>
              <a:t>It has a simple void setup as it only needs to initialize Serial communication with our device that will send input data like </a:t>
            </a:r>
            <a:r>
              <a:rPr lang="en-US" sz="2400" b="0" dirty="0" err="1">
                <a:solidFill>
                  <a:srgbClr val="CCCCCC"/>
                </a:solidFill>
                <a:effectLst/>
                <a:latin typeface="Consolas" panose="020B0609020204030204" pitchFamily="49" charset="0"/>
              </a:rPr>
              <a:t>square_feet,</a:t>
            </a:r>
            <a:r>
              <a:rPr lang="en-US" sz="2400" b="0" dirty="0" err="1">
                <a:solidFill>
                  <a:srgbClr val="569CD6"/>
                </a:solidFill>
                <a:effectLst/>
                <a:latin typeface="Consolas" panose="020B0609020204030204" pitchFamily="49" charset="0"/>
              </a:rPr>
              <a:t>bedrooms,</a:t>
            </a:r>
            <a:r>
              <a:rPr lang="en-US" sz="2400" b="0" dirty="0" err="1">
                <a:solidFill>
                  <a:srgbClr val="DCDCAA"/>
                </a:solidFill>
                <a:effectLst/>
                <a:latin typeface="Consolas" panose="020B0609020204030204" pitchFamily="49" charset="0"/>
              </a:rPr>
              <a:t>house_age</a:t>
            </a:r>
            <a:r>
              <a:rPr lang="en-US" sz="2400" dirty="0"/>
              <a:t> and receive output.</a:t>
            </a:r>
            <a:endParaRPr lang="en-IN" sz="2400" dirty="0"/>
          </a:p>
        </p:txBody>
      </p:sp>
    </p:spTree>
    <p:extLst>
      <p:ext uri="{BB962C8B-B14F-4D97-AF65-F5344CB8AC3E}">
        <p14:creationId xmlns:p14="http://schemas.microsoft.com/office/powerpoint/2010/main" val="34487405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5FD5E-A0BA-E9E5-4879-31F0593F0C7D}"/>
              </a:ext>
            </a:extLst>
          </p:cNvPr>
          <p:cNvSpPr>
            <a:spLocks noGrp="1"/>
          </p:cNvSpPr>
          <p:nvPr>
            <p:ph type="title"/>
          </p:nvPr>
        </p:nvSpPr>
        <p:spPr/>
        <p:txBody>
          <a:bodyPr/>
          <a:lstStyle/>
          <a:p>
            <a:r>
              <a:rPr lang="en-US" dirty="0"/>
              <a:t>Demonstration and result</a:t>
            </a:r>
            <a:endParaRPr lang="en-IN" dirty="0"/>
          </a:p>
        </p:txBody>
      </p:sp>
      <p:sp>
        <p:nvSpPr>
          <p:cNvPr id="3" name="TextBox 2">
            <a:extLst>
              <a:ext uri="{FF2B5EF4-FFF2-40B4-BE49-F238E27FC236}">
                <a16:creationId xmlns:a16="http://schemas.microsoft.com/office/drawing/2014/main" id="{3E67184B-11B5-9357-2E94-A785ADBAEF77}"/>
              </a:ext>
            </a:extLst>
          </p:cNvPr>
          <p:cNvSpPr txBox="1"/>
          <p:nvPr/>
        </p:nvSpPr>
        <p:spPr>
          <a:xfrm>
            <a:off x="1" y="1772528"/>
            <a:ext cx="11859064" cy="4595232"/>
          </a:xfrm>
          <a:prstGeom prst="rect">
            <a:avLst/>
          </a:prstGeom>
          <a:solidFill>
            <a:schemeClr val="bg1">
              <a:lumMod val="95000"/>
              <a:lumOff val="5000"/>
            </a:schemeClr>
          </a:solidFill>
        </p:spPr>
        <p:txBody>
          <a:bodyPr wrap="square" rtlCol="0">
            <a:spAutoFit/>
          </a:bodyPr>
          <a:lstStyle/>
          <a:p>
            <a:pPr>
              <a:lnSpc>
                <a:spcPts val="1425"/>
              </a:lnSpc>
              <a:buNone/>
            </a:pPr>
            <a:r>
              <a:rPr lang="en-IN" b="0">
                <a:solidFill>
                  <a:srgbClr val="0CA1A6"/>
                </a:solidFill>
                <a:effectLst/>
                <a:latin typeface="Consolas" panose="020B0609020204030204" pitchFamily="49" charset="0"/>
              </a:rPr>
              <a:t>void</a:t>
            </a:r>
            <a:r>
              <a:rPr lang="en-IN" b="0">
                <a:solidFill>
                  <a:srgbClr val="DAE3E3"/>
                </a:solidFill>
                <a:effectLst/>
                <a:latin typeface="Consolas" panose="020B0609020204030204" pitchFamily="49" charset="0"/>
              </a:rPr>
              <a:t> </a:t>
            </a:r>
            <a:r>
              <a:rPr lang="en-IN" b="0">
                <a:solidFill>
                  <a:srgbClr val="F39C12"/>
                </a:solidFill>
                <a:effectLst/>
                <a:latin typeface="Consolas" panose="020B0609020204030204" pitchFamily="49" charset="0"/>
              </a:rPr>
              <a:t>loop</a:t>
            </a:r>
            <a:r>
              <a:rPr lang="en-IN" b="0">
                <a:solidFill>
                  <a:srgbClr val="DAE3E3"/>
                </a:solidFill>
                <a:effectLst/>
                <a:latin typeface="Consolas" panose="020B0609020204030204" pitchFamily="49" charset="0"/>
              </a:rPr>
              <a:t>() {</a:t>
            </a:r>
          </a:p>
          <a:p>
            <a:pPr>
              <a:lnSpc>
                <a:spcPts val="1425"/>
              </a:lnSpc>
              <a:buNone/>
            </a:pPr>
            <a:r>
              <a:rPr lang="en-IN" b="0">
                <a:solidFill>
                  <a:srgbClr val="DAE3E3"/>
                </a:solidFill>
                <a:effectLst/>
                <a:latin typeface="Consolas" panose="020B0609020204030204" pitchFamily="49" charset="0"/>
              </a:rPr>
              <a:t>  </a:t>
            </a:r>
            <a:r>
              <a:rPr lang="en-IN" b="0">
                <a:solidFill>
                  <a:srgbClr val="C586C0"/>
                </a:solidFill>
                <a:effectLst/>
                <a:latin typeface="Consolas" panose="020B0609020204030204" pitchFamily="49" charset="0"/>
              </a:rPr>
              <a:t>if</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Serial</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available</a:t>
            </a:r>
            <a:r>
              <a:rPr lang="en-IN" b="0">
                <a:solidFill>
                  <a:srgbClr val="DAE3E3"/>
                </a:solidFill>
                <a:effectLst/>
                <a:latin typeface="Consolas" panose="020B0609020204030204" pitchFamily="49" charset="0"/>
              </a:rPr>
              <a:t>()&gt;</a:t>
            </a:r>
            <a:r>
              <a:rPr lang="en-IN" b="0">
                <a:solidFill>
                  <a:srgbClr val="7FCBCD"/>
                </a:solidFill>
                <a:effectLst/>
                <a:latin typeface="Consolas" panose="020B0609020204030204" pitchFamily="49" charset="0"/>
              </a:rPr>
              <a:t>0</a:t>
            </a:r>
            <a:r>
              <a:rPr lang="en-IN" b="0">
                <a:solidFill>
                  <a:srgbClr val="DAE3E3"/>
                </a:solidFill>
                <a:effectLst/>
                <a:latin typeface="Consolas" panose="020B0609020204030204" pitchFamily="49" charset="0"/>
              </a:rPr>
              <a:t>){</a:t>
            </a:r>
          </a:p>
          <a:p>
            <a:pPr>
              <a:lnSpc>
                <a:spcPts val="1425"/>
              </a:lnSpc>
              <a:buNone/>
            </a:pPr>
            <a:r>
              <a:rPr lang="en-IN" b="0">
                <a:solidFill>
                  <a:srgbClr val="DAE3E3"/>
                </a:solidFill>
                <a:effectLst/>
                <a:latin typeface="Consolas" panose="020B0609020204030204" pitchFamily="49" charset="0"/>
              </a:rPr>
              <a:t>    </a:t>
            </a:r>
          </a:p>
          <a:p>
            <a:pPr>
              <a:lnSpc>
                <a:spcPts val="1425"/>
              </a:lnSpc>
              <a:buNone/>
            </a:pPr>
            <a:r>
              <a:rPr lang="en-IN" b="0">
                <a:solidFill>
                  <a:srgbClr val="DAE3E3"/>
                </a:solidFill>
                <a:effectLst/>
                <a:latin typeface="Consolas" panose="020B0609020204030204" pitchFamily="49" charset="0"/>
              </a:rPr>
              <a:t>    String data = </a:t>
            </a:r>
            <a:r>
              <a:rPr lang="en-IN" b="0">
                <a:solidFill>
                  <a:srgbClr val="F39C12"/>
                </a:solidFill>
                <a:effectLst/>
                <a:latin typeface="Consolas" panose="020B0609020204030204" pitchFamily="49" charset="0"/>
              </a:rPr>
              <a:t>Serial</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readStringUntil</a:t>
            </a:r>
            <a:r>
              <a:rPr lang="en-IN" b="0">
                <a:solidFill>
                  <a:srgbClr val="DAE3E3"/>
                </a:solidFill>
                <a:effectLst/>
                <a:latin typeface="Consolas" panose="020B0609020204030204" pitchFamily="49" charset="0"/>
              </a:rPr>
              <a:t>('</a:t>
            </a:r>
            <a:r>
              <a:rPr lang="en-IN" b="0">
                <a:solidFill>
                  <a:srgbClr val="7FCBCD"/>
                </a:solidFill>
                <a:effectLst/>
                <a:latin typeface="Consolas" panose="020B0609020204030204" pitchFamily="49" charset="0"/>
              </a:rPr>
              <a:t>\n</a:t>
            </a:r>
            <a:r>
              <a:rPr lang="en-IN" b="0">
                <a:solidFill>
                  <a:srgbClr val="DAE3E3"/>
                </a:solidFill>
                <a:effectLst/>
                <a:latin typeface="Consolas" panose="020B0609020204030204" pitchFamily="49" charset="0"/>
              </a:rPr>
              <a:t>');</a:t>
            </a:r>
          </a:p>
          <a:p>
            <a:pPr>
              <a:lnSpc>
                <a:spcPts val="1425"/>
              </a:lnSpc>
              <a:buNone/>
            </a:pPr>
            <a:r>
              <a:rPr lang="en-IN" b="0">
                <a:solidFill>
                  <a:srgbClr val="DAE3E3"/>
                </a:solidFill>
                <a:effectLst/>
                <a:latin typeface="Consolas" panose="020B0609020204030204" pitchFamily="49" charset="0"/>
              </a:rPr>
              <a:t>    </a:t>
            </a:r>
          </a:p>
          <a:p>
            <a:pPr>
              <a:lnSpc>
                <a:spcPts val="1425"/>
              </a:lnSpc>
              <a:buNone/>
            </a:pPr>
            <a:r>
              <a:rPr lang="en-IN" b="0">
                <a:solidFill>
                  <a:srgbClr val="DAE3E3"/>
                </a:solidFill>
                <a:effectLst/>
                <a:latin typeface="Consolas" panose="020B0609020204030204" pitchFamily="49" charset="0"/>
              </a:rPr>
              <a:t>    </a:t>
            </a:r>
            <a:r>
              <a:rPr lang="en-IN" b="0">
                <a:solidFill>
                  <a:srgbClr val="0CA1A6"/>
                </a:solidFill>
                <a:effectLst/>
                <a:latin typeface="Consolas" panose="020B0609020204030204" pitchFamily="49" charset="0"/>
              </a:rPr>
              <a:t>int</a:t>
            </a:r>
            <a:r>
              <a:rPr lang="en-IN" b="0">
                <a:solidFill>
                  <a:srgbClr val="DAE3E3"/>
                </a:solidFill>
                <a:effectLst/>
                <a:latin typeface="Consolas" panose="020B0609020204030204" pitchFamily="49" charset="0"/>
              </a:rPr>
              <a:t> firstComma = </a:t>
            </a:r>
            <a:r>
              <a:rPr lang="en-IN" b="0">
                <a:solidFill>
                  <a:srgbClr val="F39C12"/>
                </a:solidFill>
                <a:effectLst/>
                <a:latin typeface="Consolas" panose="020B0609020204030204" pitchFamily="49" charset="0"/>
              </a:rPr>
              <a:t>data</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indexOf</a:t>
            </a:r>
            <a:r>
              <a:rPr lang="en-IN" b="0">
                <a:solidFill>
                  <a:srgbClr val="DAE3E3"/>
                </a:solidFill>
                <a:effectLst/>
                <a:latin typeface="Consolas" panose="020B0609020204030204" pitchFamily="49" charset="0"/>
              </a:rPr>
              <a:t>(',');</a:t>
            </a:r>
          </a:p>
          <a:p>
            <a:pPr>
              <a:lnSpc>
                <a:spcPts val="1425"/>
              </a:lnSpc>
              <a:buNone/>
            </a:pPr>
            <a:r>
              <a:rPr lang="en-IN" b="0">
                <a:solidFill>
                  <a:srgbClr val="DAE3E3"/>
                </a:solidFill>
                <a:effectLst/>
                <a:latin typeface="Consolas" panose="020B0609020204030204" pitchFamily="49" charset="0"/>
              </a:rPr>
              <a:t>    </a:t>
            </a:r>
            <a:r>
              <a:rPr lang="en-IN" b="0">
                <a:solidFill>
                  <a:srgbClr val="0CA1A6"/>
                </a:solidFill>
                <a:effectLst/>
                <a:latin typeface="Consolas" panose="020B0609020204030204" pitchFamily="49" charset="0"/>
              </a:rPr>
              <a:t>int</a:t>
            </a:r>
            <a:r>
              <a:rPr lang="en-IN" b="0">
                <a:solidFill>
                  <a:srgbClr val="DAE3E3"/>
                </a:solidFill>
                <a:effectLst/>
                <a:latin typeface="Consolas" panose="020B0609020204030204" pitchFamily="49" charset="0"/>
              </a:rPr>
              <a:t> secondComma = </a:t>
            </a:r>
            <a:r>
              <a:rPr lang="en-IN" b="0">
                <a:solidFill>
                  <a:srgbClr val="F39C12"/>
                </a:solidFill>
                <a:effectLst/>
                <a:latin typeface="Consolas" panose="020B0609020204030204" pitchFamily="49" charset="0"/>
              </a:rPr>
              <a:t>data</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indexOf</a:t>
            </a:r>
            <a:r>
              <a:rPr lang="en-IN" b="0">
                <a:solidFill>
                  <a:srgbClr val="DAE3E3"/>
                </a:solidFill>
                <a:effectLst/>
                <a:latin typeface="Consolas" panose="020B0609020204030204" pitchFamily="49" charset="0"/>
              </a:rPr>
              <a:t>(',', firstComma + </a:t>
            </a:r>
            <a:r>
              <a:rPr lang="en-IN" b="0">
                <a:solidFill>
                  <a:srgbClr val="7FCBCD"/>
                </a:solidFill>
                <a:effectLst/>
                <a:latin typeface="Consolas" panose="020B0609020204030204" pitchFamily="49" charset="0"/>
              </a:rPr>
              <a:t>1</a:t>
            </a:r>
            <a:r>
              <a:rPr lang="en-IN" b="0">
                <a:solidFill>
                  <a:srgbClr val="DAE3E3"/>
                </a:solidFill>
                <a:effectLst/>
                <a:latin typeface="Consolas" panose="020B0609020204030204" pitchFamily="49" charset="0"/>
              </a:rPr>
              <a:t>);</a:t>
            </a:r>
          </a:p>
          <a:p>
            <a:pPr>
              <a:lnSpc>
                <a:spcPts val="1425"/>
              </a:lnSpc>
              <a:buNone/>
            </a:pPr>
            <a:r>
              <a:rPr lang="en-IN" b="0">
                <a:solidFill>
                  <a:srgbClr val="DAE3E3"/>
                </a:solidFill>
                <a:effectLst/>
                <a:latin typeface="Consolas" panose="020B0609020204030204" pitchFamily="49" charset="0"/>
              </a:rPr>
              <a:t>    </a:t>
            </a:r>
          </a:p>
          <a:p>
            <a:pPr>
              <a:lnSpc>
                <a:spcPts val="1425"/>
              </a:lnSpc>
              <a:buNone/>
            </a:pPr>
            <a:r>
              <a:rPr lang="en-IN" b="0">
                <a:solidFill>
                  <a:srgbClr val="DAE3E3"/>
                </a:solidFill>
                <a:effectLst/>
                <a:latin typeface="Consolas" panose="020B0609020204030204" pitchFamily="49" charset="0"/>
              </a:rPr>
              <a:t>    </a:t>
            </a:r>
            <a:r>
              <a:rPr lang="en-IN" b="0">
                <a:solidFill>
                  <a:srgbClr val="C586C0"/>
                </a:solidFill>
                <a:effectLst/>
                <a:latin typeface="Consolas" panose="020B0609020204030204" pitchFamily="49" charset="0"/>
              </a:rPr>
              <a:t>if</a:t>
            </a:r>
            <a:r>
              <a:rPr lang="en-IN" b="0">
                <a:solidFill>
                  <a:srgbClr val="DAE3E3"/>
                </a:solidFill>
                <a:effectLst/>
                <a:latin typeface="Consolas" panose="020B0609020204030204" pitchFamily="49" charset="0"/>
              </a:rPr>
              <a:t> (firstComma != -</a:t>
            </a:r>
            <a:r>
              <a:rPr lang="en-IN" b="0">
                <a:solidFill>
                  <a:srgbClr val="7FCBCD"/>
                </a:solidFill>
                <a:effectLst/>
                <a:latin typeface="Consolas" panose="020B0609020204030204" pitchFamily="49" charset="0"/>
              </a:rPr>
              <a:t>1</a:t>
            </a:r>
            <a:r>
              <a:rPr lang="en-IN" b="0">
                <a:solidFill>
                  <a:srgbClr val="DAE3E3"/>
                </a:solidFill>
                <a:effectLst/>
                <a:latin typeface="Consolas" panose="020B0609020204030204" pitchFamily="49" charset="0"/>
              </a:rPr>
              <a:t> &amp;&amp; secondComma != -</a:t>
            </a:r>
            <a:r>
              <a:rPr lang="en-IN" b="0">
                <a:solidFill>
                  <a:srgbClr val="7FCBCD"/>
                </a:solidFill>
                <a:effectLst/>
                <a:latin typeface="Consolas" panose="020B0609020204030204" pitchFamily="49" charset="0"/>
              </a:rPr>
              <a:t>1</a:t>
            </a:r>
            <a:r>
              <a:rPr lang="en-IN" b="0">
                <a:solidFill>
                  <a:srgbClr val="DAE3E3"/>
                </a:solidFill>
                <a:effectLst/>
                <a:latin typeface="Consolas" panose="020B0609020204030204" pitchFamily="49" charset="0"/>
              </a:rPr>
              <a:t>) {</a:t>
            </a:r>
          </a:p>
          <a:p>
            <a:pPr>
              <a:lnSpc>
                <a:spcPts val="1425"/>
              </a:lnSpc>
              <a:buNone/>
            </a:pPr>
            <a:r>
              <a:rPr lang="en-IN" b="0">
                <a:solidFill>
                  <a:srgbClr val="DAE3E3"/>
                </a:solidFill>
                <a:effectLst/>
                <a:latin typeface="Consolas" panose="020B0609020204030204" pitchFamily="49" charset="0"/>
              </a:rPr>
              <a:t>      </a:t>
            </a:r>
            <a:r>
              <a:rPr lang="en-IN" b="0">
                <a:solidFill>
                  <a:srgbClr val="F39C12"/>
                </a:solidFill>
                <a:effectLst/>
                <a:latin typeface="Consolas" panose="020B0609020204030204" pitchFamily="49" charset="0"/>
              </a:rPr>
              <a:t>input_value</a:t>
            </a:r>
            <a:r>
              <a:rPr lang="en-IN" b="0">
                <a:solidFill>
                  <a:srgbClr val="DAE3E3"/>
                </a:solidFill>
                <a:effectLst/>
                <a:latin typeface="Consolas" panose="020B0609020204030204" pitchFamily="49" charset="0"/>
              </a:rPr>
              <a:t>[</a:t>
            </a:r>
            <a:r>
              <a:rPr lang="en-IN" b="0">
                <a:solidFill>
                  <a:srgbClr val="7FCBCD"/>
                </a:solidFill>
                <a:effectLst/>
                <a:latin typeface="Consolas" panose="020B0609020204030204" pitchFamily="49" charset="0"/>
              </a:rPr>
              <a:t>0</a:t>
            </a:r>
            <a:r>
              <a:rPr lang="en-IN" b="0">
                <a:solidFill>
                  <a:srgbClr val="DAE3E3"/>
                </a:solidFill>
                <a:effectLst/>
                <a:latin typeface="Consolas" panose="020B0609020204030204" pitchFamily="49" charset="0"/>
              </a:rPr>
              <a:t>] = </a:t>
            </a:r>
            <a:r>
              <a:rPr lang="en-IN" b="0">
                <a:solidFill>
                  <a:srgbClr val="F39C12"/>
                </a:solidFill>
                <a:effectLst/>
                <a:latin typeface="Consolas" panose="020B0609020204030204" pitchFamily="49" charset="0"/>
              </a:rPr>
              <a:t>data</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substring</a:t>
            </a:r>
            <a:r>
              <a:rPr lang="en-IN" b="0">
                <a:solidFill>
                  <a:srgbClr val="DAE3E3"/>
                </a:solidFill>
                <a:effectLst/>
                <a:latin typeface="Consolas" panose="020B0609020204030204" pitchFamily="49" charset="0"/>
              </a:rPr>
              <a:t>(</a:t>
            </a:r>
            <a:r>
              <a:rPr lang="en-IN" b="0">
                <a:solidFill>
                  <a:srgbClr val="7FCBCD"/>
                </a:solidFill>
                <a:effectLst/>
                <a:latin typeface="Consolas" panose="020B0609020204030204" pitchFamily="49" charset="0"/>
              </a:rPr>
              <a:t>0</a:t>
            </a:r>
            <a:r>
              <a:rPr lang="en-IN" b="0">
                <a:solidFill>
                  <a:srgbClr val="DAE3E3"/>
                </a:solidFill>
                <a:effectLst/>
                <a:latin typeface="Consolas" panose="020B0609020204030204" pitchFamily="49" charset="0"/>
              </a:rPr>
              <a:t>, firstComma).</a:t>
            </a:r>
            <a:r>
              <a:rPr lang="en-IN" b="0">
                <a:solidFill>
                  <a:srgbClr val="F39C12"/>
                </a:solidFill>
                <a:effectLst/>
                <a:latin typeface="Consolas" panose="020B0609020204030204" pitchFamily="49" charset="0"/>
              </a:rPr>
              <a:t>toFloat</a:t>
            </a:r>
            <a:r>
              <a:rPr lang="en-IN" b="0">
                <a:solidFill>
                  <a:srgbClr val="DAE3E3"/>
                </a:solidFill>
                <a:effectLst/>
                <a:latin typeface="Consolas" panose="020B0609020204030204" pitchFamily="49" charset="0"/>
              </a:rPr>
              <a:t>();</a:t>
            </a:r>
          </a:p>
          <a:p>
            <a:pPr>
              <a:lnSpc>
                <a:spcPts val="1425"/>
              </a:lnSpc>
              <a:buNone/>
            </a:pPr>
            <a:r>
              <a:rPr lang="en-IN" b="0">
                <a:solidFill>
                  <a:srgbClr val="DAE3E3"/>
                </a:solidFill>
                <a:effectLst/>
                <a:latin typeface="Consolas" panose="020B0609020204030204" pitchFamily="49" charset="0"/>
              </a:rPr>
              <a:t>      </a:t>
            </a:r>
            <a:r>
              <a:rPr lang="en-IN" b="0">
                <a:solidFill>
                  <a:srgbClr val="F39C12"/>
                </a:solidFill>
                <a:effectLst/>
                <a:latin typeface="Consolas" panose="020B0609020204030204" pitchFamily="49" charset="0"/>
              </a:rPr>
              <a:t>input_value</a:t>
            </a:r>
            <a:r>
              <a:rPr lang="en-IN" b="0">
                <a:solidFill>
                  <a:srgbClr val="DAE3E3"/>
                </a:solidFill>
                <a:effectLst/>
                <a:latin typeface="Consolas" panose="020B0609020204030204" pitchFamily="49" charset="0"/>
              </a:rPr>
              <a:t>[</a:t>
            </a:r>
            <a:r>
              <a:rPr lang="en-IN" b="0">
                <a:solidFill>
                  <a:srgbClr val="7FCBCD"/>
                </a:solidFill>
                <a:effectLst/>
                <a:latin typeface="Consolas" panose="020B0609020204030204" pitchFamily="49" charset="0"/>
              </a:rPr>
              <a:t>1</a:t>
            </a:r>
            <a:r>
              <a:rPr lang="en-IN" b="0">
                <a:solidFill>
                  <a:srgbClr val="DAE3E3"/>
                </a:solidFill>
                <a:effectLst/>
                <a:latin typeface="Consolas" panose="020B0609020204030204" pitchFamily="49" charset="0"/>
              </a:rPr>
              <a:t>] = </a:t>
            </a:r>
            <a:r>
              <a:rPr lang="en-IN" b="0">
                <a:solidFill>
                  <a:srgbClr val="F39C12"/>
                </a:solidFill>
                <a:effectLst/>
                <a:latin typeface="Consolas" panose="020B0609020204030204" pitchFamily="49" charset="0"/>
              </a:rPr>
              <a:t>data</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substring</a:t>
            </a:r>
            <a:r>
              <a:rPr lang="en-IN" b="0">
                <a:solidFill>
                  <a:srgbClr val="DAE3E3"/>
                </a:solidFill>
                <a:effectLst/>
                <a:latin typeface="Consolas" panose="020B0609020204030204" pitchFamily="49" charset="0"/>
              </a:rPr>
              <a:t>(firstComma + </a:t>
            </a:r>
            <a:r>
              <a:rPr lang="en-IN" b="0">
                <a:solidFill>
                  <a:srgbClr val="7FCBCD"/>
                </a:solidFill>
                <a:effectLst/>
                <a:latin typeface="Consolas" panose="020B0609020204030204" pitchFamily="49" charset="0"/>
              </a:rPr>
              <a:t>1</a:t>
            </a:r>
            <a:r>
              <a:rPr lang="en-IN" b="0">
                <a:solidFill>
                  <a:srgbClr val="DAE3E3"/>
                </a:solidFill>
                <a:effectLst/>
                <a:latin typeface="Consolas" panose="020B0609020204030204" pitchFamily="49" charset="0"/>
              </a:rPr>
              <a:t>, secondComma).</a:t>
            </a:r>
            <a:r>
              <a:rPr lang="en-IN" b="0">
                <a:solidFill>
                  <a:srgbClr val="F39C12"/>
                </a:solidFill>
                <a:effectLst/>
                <a:latin typeface="Consolas" panose="020B0609020204030204" pitchFamily="49" charset="0"/>
              </a:rPr>
              <a:t>toFloat</a:t>
            </a:r>
            <a:r>
              <a:rPr lang="en-IN" b="0">
                <a:solidFill>
                  <a:srgbClr val="DAE3E3"/>
                </a:solidFill>
                <a:effectLst/>
                <a:latin typeface="Consolas" panose="020B0609020204030204" pitchFamily="49" charset="0"/>
              </a:rPr>
              <a:t>();</a:t>
            </a:r>
          </a:p>
          <a:p>
            <a:pPr>
              <a:lnSpc>
                <a:spcPts val="1425"/>
              </a:lnSpc>
              <a:buNone/>
            </a:pPr>
            <a:r>
              <a:rPr lang="en-IN" b="0">
                <a:solidFill>
                  <a:srgbClr val="DAE3E3"/>
                </a:solidFill>
                <a:effectLst/>
                <a:latin typeface="Consolas" panose="020B0609020204030204" pitchFamily="49" charset="0"/>
              </a:rPr>
              <a:t>      </a:t>
            </a:r>
            <a:r>
              <a:rPr lang="en-IN" b="0">
                <a:solidFill>
                  <a:srgbClr val="F39C12"/>
                </a:solidFill>
                <a:effectLst/>
                <a:latin typeface="Consolas" panose="020B0609020204030204" pitchFamily="49" charset="0"/>
              </a:rPr>
              <a:t>input_value</a:t>
            </a:r>
            <a:r>
              <a:rPr lang="en-IN" b="0">
                <a:solidFill>
                  <a:srgbClr val="DAE3E3"/>
                </a:solidFill>
                <a:effectLst/>
                <a:latin typeface="Consolas" panose="020B0609020204030204" pitchFamily="49" charset="0"/>
              </a:rPr>
              <a:t>[</a:t>
            </a:r>
            <a:r>
              <a:rPr lang="en-IN" b="0">
                <a:solidFill>
                  <a:srgbClr val="7FCBCD"/>
                </a:solidFill>
                <a:effectLst/>
                <a:latin typeface="Consolas" panose="020B0609020204030204" pitchFamily="49" charset="0"/>
              </a:rPr>
              <a:t>2</a:t>
            </a:r>
            <a:r>
              <a:rPr lang="en-IN" b="0">
                <a:solidFill>
                  <a:srgbClr val="DAE3E3"/>
                </a:solidFill>
                <a:effectLst/>
                <a:latin typeface="Consolas" panose="020B0609020204030204" pitchFamily="49" charset="0"/>
              </a:rPr>
              <a:t>] = </a:t>
            </a:r>
            <a:r>
              <a:rPr lang="en-IN" b="0">
                <a:solidFill>
                  <a:srgbClr val="F39C12"/>
                </a:solidFill>
                <a:effectLst/>
                <a:latin typeface="Consolas" panose="020B0609020204030204" pitchFamily="49" charset="0"/>
              </a:rPr>
              <a:t>data</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substring</a:t>
            </a:r>
            <a:r>
              <a:rPr lang="en-IN" b="0">
                <a:solidFill>
                  <a:srgbClr val="DAE3E3"/>
                </a:solidFill>
                <a:effectLst/>
                <a:latin typeface="Consolas" panose="020B0609020204030204" pitchFamily="49" charset="0"/>
              </a:rPr>
              <a:t>(secondComma + </a:t>
            </a:r>
            <a:r>
              <a:rPr lang="en-IN" b="0">
                <a:solidFill>
                  <a:srgbClr val="7FCBCD"/>
                </a:solidFill>
                <a:effectLst/>
                <a:latin typeface="Consolas" panose="020B0609020204030204" pitchFamily="49" charset="0"/>
              </a:rPr>
              <a:t>1</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toFloat</a:t>
            </a:r>
            <a:r>
              <a:rPr lang="en-IN" b="0">
                <a:solidFill>
                  <a:srgbClr val="DAE3E3"/>
                </a:solidFill>
                <a:effectLst/>
                <a:latin typeface="Consolas" panose="020B0609020204030204" pitchFamily="49" charset="0"/>
              </a:rPr>
              <a:t>();</a:t>
            </a:r>
          </a:p>
          <a:p>
            <a:pPr>
              <a:lnSpc>
                <a:spcPts val="1425"/>
              </a:lnSpc>
              <a:buNone/>
            </a:pPr>
            <a:r>
              <a:rPr lang="en-IN" b="0">
                <a:solidFill>
                  <a:srgbClr val="DAE3E3"/>
                </a:solidFill>
                <a:effectLst/>
                <a:latin typeface="Consolas" panose="020B0609020204030204" pitchFamily="49" charset="0"/>
              </a:rPr>
              <a:t>    }</a:t>
            </a:r>
          </a:p>
          <a:p>
            <a:pPr>
              <a:lnSpc>
                <a:spcPts val="1425"/>
              </a:lnSpc>
              <a:buNone/>
            </a:pPr>
            <a:r>
              <a:rPr lang="en-IN" b="0">
                <a:solidFill>
                  <a:srgbClr val="DAE3E3"/>
                </a:solidFill>
                <a:effectLst/>
                <a:latin typeface="Consolas" panose="020B0609020204030204" pitchFamily="49" charset="0"/>
              </a:rPr>
              <a:t>    </a:t>
            </a:r>
            <a:r>
              <a:rPr lang="en-IN" b="0">
                <a:solidFill>
                  <a:srgbClr val="0CA1A6"/>
                </a:solidFill>
                <a:effectLst/>
                <a:latin typeface="Consolas" panose="020B0609020204030204" pitchFamily="49" charset="0"/>
              </a:rPr>
              <a:t>float</a:t>
            </a:r>
            <a:r>
              <a:rPr lang="en-IN" b="0">
                <a:solidFill>
                  <a:srgbClr val="DAE3E3"/>
                </a:solidFill>
                <a:effectLst/>
                <a:latin typeface="Consolas" panose="020B0609020204030204" pitchFamily="49" charset="0"/>
              </a:rPr>
              <a:t> * output_value = </a:t>
            </a:r>
            <a:r>
              <a:rPr lang="en-IN" b="0">
                <a:solidFill>
                  <a:srgbClr val="F39C12"/>
                </a:solidFill>
                <a:effectLst/>
                <a:latin typeface="Consolas" panose="020B0609020204030204" pitchFamily="49" charset="0"/>
              </a:rPr>
              <a:t>feed_forward</a:t>
            </a:r>
            <a:r>
              <a:rPr lang="en-IN" b="0">
                <a:solidFill>
                  <a:srgbClr val="DAE3E3"/>
                </a:solidFill>
                <a:effectLst/>
                <a:latin typeface="Consolas" panose="020B0609020204030204" pitchFamily="49" charset="0"/>
              </a:rPr>
              <a:t>(input_value);</a:t>
            </a:r>
          </a:p>
          <a:p>
            <a:pPr>
              <a:lnSpc>
                <a:spcPts val="1425"/>
              </a:lnSpc>
              <a:buNone/>
            </a:pPr>
            <a:r>
              <a:rPr lang="en-IN" b="0">
                <a:solidFill>
                  <a:srgbClr val="DAE3E3"/>
                </a:solidFill>
                <a:effectLst/>
                <a:latin typeface="Consolas" panose="020B0609020204030204" pitchFamily="49" charset="0"/>
              </a:rPr>
              <a:t>    </a:t>
            </a:r>
          </a:p>
          <a:p>
            <a:pPr>
              <a:lnSpc>
                <a:spcPts val="1425"/>
              </a:lnSpc>
              <a:buNone/>
            </a:pPr>
            <a:r>
              <a:rPr lang="en-IN" b="0">
                <a:solidFill>
                  <a:srgbClr val="DAE3E3"/>
                </a:solidFill>
                <a:effectLst/>
                <a:latin typeface="Consolas" panose="020B0609020204030204" pitchFamily="49" charset="0"/>
              </a:rPr>
              <a:t>    </a:t>
            </a:r>
            <a:r>
              <a:rPr lang="en-IN" b="0">
                <a:solidFill>
                  <a:srgbClr val="F39C12"/>
                </a:solidFill>
                <a:effectLst/>
                <a:latin typeface="Consolas" panose="020B0609020204030204" pitchFamily="49" charset="0"/>
              </a:rPr>
              <a:t>Serial</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print</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output_value</a:t>
            </a:r>
            <a:r>
              <a:rPr lang="en-IN" b="0">
                <a:solidFill>
                  <a:srgbClr val="DAE3E3"/>
                </a:solidFill>
                <a:effectLst/>
                <a:latin typeface="Consolas" panose="020B0609020204030204" pitchFamily="49" charset="0"/>
              </a:rPr>
              <a:t>[</a:t>
            </a:r>
            <a:r>
              <a:rPr lang="en-IN" b="0">
                <a:solidFill>
                  <a:srgbClr val="7FCBCD"/>
                </a:solidFill>
                <a:effectLst/>
                <a:latin typeface="Consolas" panose="020B0609020204030204" pitchFamily="49" charset="0"/>
              </a:rPr>
              <a:t>0</a:t>
            </a:r>
            <a:r>
              <a:rPr lang="en-IN" b="0">
                <a:solidFill>
                  <a:srgbClr val="DAE3E3"/>
                </a:solidFill>
                <a:effectLst/>
                <a:latin typeface="Consolas" panose="020B0609020204030204" pitchFamily="49" charset="0"/>
              </a:rPr>
              <a:t>]);</a:t>
            </a:r>
          </a:p>
          <a:p>
            <a:pPr>
              <a:lnSpc>
                <a:spcPts val="1425"/>
              </a:lnSpc>
              <a:buNone/>
            </a:pPr>
            <a:r>
              <a:rPr lang="en-IN" b="0">
                <a:solidFill>
                  <a:srgbClr val="DAE3E3"/>
                </a:solidFill>
                <a:effectLst/>
                <a:latin typeface="Consolas" panose="020B0609020204030204" pitchFamily="49" charset="0"/>
              </a:rPr>
              <a:t>    </a:t>
            </a:r>
            <a:r>
              <a:rPr lang="en-IN" b="0">
                <a:solidFill>
                  <a:srgbClr val="F39C12"/>
                </a:solidFill>
                <a:effectLst/>
                <a:latin typeface="Consolas" panose="020B0609020204030204" pitchFamily="49" charset="0"/>
              </a:rPr>
              <a:t>Serial</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print</a:t>
            </a:r>
            <a:r>
              <a:rPr lang="en-IN" b="0">
                <a:solidFill>
                  <a:srgbClr val="DAE3E3"/>
                </a:solidFill>
                <a:effectLst/>
                <a:latin typeface="Consolas" panose="020B0609020204030204" pitchFamily="49" charset="0"/>
              </a:rPr>
              <a:t>(</a:t>
            </a:r>
            <a:r>
              <a:rPr lang="en-IN" b="0">
                <a:solidFill>
                  <a:srgbClr val="7FCBCD"/>
                </a:solidFill>
                <a:effectLst/>
                <a:latin typeface="Consolas" panose="020B0609020204030204" pitchFamily="49" charset="0"/>
              </a:rPr>
              <a:t>","</a:t>
            </a:r>
            <a:r>
              <a:rPr lang="en-IN" b="0">
                <a:solidFill>
                  <a:srgbClr val="DAE3E3"/>
                </a:solidFill>
                <a:effectLst/>
                <a:latin typeface="Consolas" panose="020B0609020204030204" pitchFamily="49" charset="0"/>
              </a:rPr>
              <a:t>);</a:t>
            </a:r>
          </a:p>
          <a:p>
            <a:pPr>
              <a:lnSpc>
                <a:spcPts val="1425"/>
              </a:lnSpc>
              <a:buNone/>
            </a:pPr>
            <a:r>
              <a:rPr lang="en-IN" b="0">
                <a:solidFill>
                  <a:srgbClr val="DAE3E3"/>
                </a:solidFill>
                <a:effectLst/>
                <a:latin typeface="Consolas" panose="020B0609020204030204" pitchFamily="49" charset="0"/>
              </a:rPr>
              <a:t>    </a:t>
            </a:r>
            <a:r>
              <a:rPr lang="en-IN" b="0">
                <a:solidFill>
                  <a:srgbClr val="F39C12"/>
                </a:solidFill>
                <a:effectLst/>
                <a:latin typeface="Consolas" panose="020B0609020204030204" pitchFamily="49" charset="0"/>
              </a:rPr>
              <a:t>Serial</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println</a:t>
            </a:r>
            <a:r>
              <a:rPr lang="en-IN" b="0">
                <a:solidFill>
                  <a:srgbClr val="DAE3E3"/>
                </a:solidFill>
                <a:effectLst/>
                <a:latin typeface="Consolas" panose="020B0609020204030204" pitchFamily="49" charset="0"/>
              </a:rPr>
              <a:t>(</a:t>
            </a:r>
            <a:r>
              <a:rPr lang="en-IN" b="0">
                <a:solidFill>
                  <a:srgbClr val="F39C12"/>
                </a:solidFill>
                <a:effectLst/>
                <a:latin typeface="Consolas" panose="020B0609020204030204" pitchFamily="49" charset="0"/>
              </a:rPr>
              <a:t>output_value</a:t>
            </a:r>
            <a:r>
              <a:rPr lang="en-IN" b="0">
                <a:solidFill>
                  <a:srgbClr val="DAE3E3"/>
                </a:solidFill>
                <a:effectLst/>
                <a:latin typeface="Consolas" panose="020B0609020204030204" pitchFamily="49" charset="0"/>
              </a:rPr>
              <a:t>[</a:t>
            </a:r>
            <a:r>
              <a:rPr lang="en-IN" b="0">
                <a:solidFill>
                  <a:srgbClr val="7FCBCD"/>
                </a:solidFill>
                <a:effectLst/>
                <a:latin typeface="Consolas" panose="020B0609020204030204" pitchFamily="49" charset="0"/>
              </a:rPr>
              <a:t>1</a:t>
            </a:r>
            <a:r>
              <a:rPr lang="en-IN" b="0">
                <a:solidFill>
                  <a:srgbClr val="DAE3E3"/>
                </a:solidFill>
                <a:effectLst/>
                <a:latin typeface="Consolas" panose="020B0609020204030204" pitchFamily="49" charset="0"/>
              </a:rPr>
              <a:t>]);</a:t>
            </a:r>
          </a:p>
          <a:p>
            <a:pPr>
              <a:lnSpc>
                <a:spcPts val="1425"/>
              </a:lnSpc>
              <a:buNone/>
            </a:pPr>
            <a:r>
              <a:rPr lang="en-IN" b="0">
                <a:solidFill>
                  <a:srgbClr val="DAE3E3"/>
                </a:solidFill>
                <a:effectLst/>
                <a:latin typeface="Consolas" panose="020B0609020204030204" pitchFamily="49" charset="0"/>
              </a:rPr>
              <a:t>    </a:t>
            </a:r>
          </a:p>
          <a:p>
            <a:pPr>
              <a:lnSpc>
                <a:spcPts val="1425"/>
              </a:lnSpc>
              <a:buNone/>
            </a:pPr>
            <a:r>
              <a:rPr lang="en-IN" b="0">
                <a:solidFill>
                  <a:srgbClr val="DAE3E3"/>
                </a:solidFill>
                <a:effectLst/>
                <a:latin typeface="Consolas" panose="020B0609020204030204" pitchFamily="49" charset="0"/>
              </a:rPr>
              <a:t>    delete[] output_value;</a:t>
            </a:r>
          </a:p>
          <a:p>
            <a:pPr>
              <a:lnSpc>
                <a:spcPts val="1425"/>
              </a:lnSpc>
              <a:buNone/>
            </a:pPr>
            <a:r>
              <a:rPr lang="en-IN" b="0">
                <a:solidFill>
                  <a:srgbClr val="DAE3E3"/>
                </a:solidFill>
                <a:effectLst/>
                <a:latin typeface="Consolas" panose="020B0609020204030204" pitchFamily="49" charset="0"/>
              </a:rPr>
              <a:t>  }</a:t>
            </a:r>
          </a:p>
          <a:p>
            <a:pPr>
              <a:lnSpc>
                <a:spcPts val="1425"/>
              </a:lnSpc>
              <a:buNone/>
            </a:pPr>
            <a:r>
              <a:rPr lang="en-IN" b="0">
                <a:solidFill>
                  <a:srgbClr val="DAE3E3"/>
                </a:solidFill>
                <a:effectLst/>
                <a:latin typeface="Consolas" panose="020B0609020204030204" pitchFamily="49" charset="0"/>
              </a:rPr>
              <a:t>  </a:t>
            </a:r>
            <a:r>
              <a:rPr lang="en-IN" b="0">
                <a:solidFill>
                  <a:srgbClr val="F39C12"/>
                </a:solidFill>
                <a:effectLst/>
                <a:latin typeface="Consolas" panose="020B0609020204030204" pitchFamily="49" charset="0"/>
              </a:rPr>
              <a:t>delay</a:t>
            </a:r>
            <a:r>
              <a:rPr lang="en-IN" b="0">
                <a:solidFill>
                  <a:srgbClr val="DAE3E3"/>
                </a:solidFill>
                <a:effectLst/>
                <a:latin typeface="Consolas" panose="020B0609020204030204" pitchFamily="49" charset="0"/>
              </a:rPr>
              <a:t>(</a:t>
            </a:r>
            <a:r>
              <a:rPr lang="en-IN" b="0">
                <a:solidFill>
                  <a:srgbClr val="7FCBCD"/>
                </a:solidFill>
                <a:effectLst/>
                <a:latin typeface="Consolas" panose="020B0609020204030204" pitchFamily="49" charset="0"/>
              </a:rPr>
              <a:t>10</a:t>
            </a:r>
            <a:r>
              <a:rPr lang="en-IN" b="0">
                <a:solidFill>
                  <a:srgbClr val="DAE3E3"/>
                </a:solidFill>
                <a:effectLst/>
                <a:latin typeface="Consolas" panose="020B0609020204030204" pitchFamily="49" charset="0"/>
              </a:rPr>
              <a:t>);</a:t>
            </a:r>
          </a:p>
          <a:p>
            <a:pPr>
              <a:lnSpc>
                <a:spcPts val="1425"/>
              </a:lnSpc>
              <a:buNone/>
            </a:pPr>
            <a:r>
              <a:rPr lang="en-IN" b="0">
                <a:solidFill>
                  <a:srgbClr val="DAE3E3"/>
                </a:solidFill>
                <a:effectLst/>
                <a:latin typeface="Consolas" panose="020B0609020204030204" pitchFamily="49" charset="0"/>
              </a:rPr>
              <a:t>}</a:t>
            </a:r>
          </a:p>
          <a:p>
            <a:pPr>
              <a:lnSpc>
                <a:spcPts val="1425"/>
              </a:lnSpc>
            </a:pPr>
            <a:br>
              <a:rPr lang="en-IN" b="0">
                <a:solidFill>
                  <a:srgbClr val="DAE3E3"/>
                </a:solidFill>
                <a:effectLst/>
                <a:latin typeface="Consolas" panose="020B0609020204030204" pitchFamily="49" charset="0"/>
              </a:rPr>
            </a:br>
            <a:endParaRPr lang="en-IN" b="0">
              <a:solidFill>
                <a:srgbClr val="DAE3E3"/>
              </a:solidFill>
              <a:effectLst/>
              <a:latin typeface="Consolas" panose="020B0609020204030204" pitchFamily="49" charset="0"/>
            </a:endParaRPr>
          </a:p>
        </p:txBody>
      </p:sp>
    </p:spTree>
    <p:extLst>
      <p:ext uri="{BB962C8B-B14F-4D97-AF65-F5344CB8AC3E}">
        <p14:creationId xmlns:p14="http://schemas.microsoft.com/office/powerpoint/2010/main" val="12236928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934D5-7713-A2F1-5895-C5B0E7D9CF93}"/>
              </a:ext>
            </a:extLst>
          </p:cNvPr>
          <p:cNvSpPr>
            <a:spLocks noGrp="1"/>
          </p:cNvSpPr>
          <p:nvPr>
            <p:ph type="title"/>
          </p:nvPr>
        </p:nvSpPr>
        <p:spPr/>
        <p:txBody>
          <a:bodyPr/>
          <a:lstStyle/>
          <a:p>
            <a:r>
              <a:rPr lang="en-US" dirty="0"/>
              <a:t>Demonstration and result</a:t>
            </a:r>
            <a:endParaRPr lang="en-IN" dirty="0"/>
          </a:p>
        </p:txBody>
      </p:sp>
      <p:sp>
        <p:nvSpPr>
          <p:cNvPr id="3" name="Content Placeholder 2">
            <a:extLst>
              <a:ext uri="{FF2B5EF4-FFF2-40B4-BE49-F238E27FC236}">
                <a16:creationId xmlns:a16="http://schemas.microsoft.com/office/drawing/2014/main" id="{AA446E8D-E6D3-D17D-F71F-E49DA930BD72}"/>
              </a:ext>
            </a:extLst>
          </p:cNvPr>
          <p:cNvSpPr>
            <a:spLocks noGrp="1"/>
          </p:cNvSpPr>
          <p:nvPr>
            <p:ph idx="1"/>
          </p:nvPr>
        </p:nvSpPr>
        <p:spPr/>
        <p:txBody>
          <a:bodyPr>
            <a:normAutofit/>
          </a:bodyPr>
          <a:lstStyle/>
          <a:p>
            <a:r>
              <a:rPr lang="en-US" dirty="0"/>
              <a:t>The above given code in void loop reads input data like </a:t>
            </a:r>
            <a:r>
              <a:rPr lang="en-US" b="0" dirty="0" err="1">
                <a:effectLst/>
                <a:latin typeface="Consolas" panose="020B0609020204030204" pitchFamily="49" charset="0"/>
              </a:rPr>
              <a:t>square_feet,bedrooms,house_age</a:t>
            </a:r>
            <a:r>
              <a:rPr lang="en-US" dirty="0"/>
              <a:t> from serial port and outputs data like </a:t>
            </a:r>
            <a:r>
              <a:rPr lang="en-IN" b="0" dirty="0" err="1">
                <a:effectLst/>
                <a:latin typeface="Consolas" panose="020B0609020204030204" pitchFamily="49" charset="0"/>
              </a:rPr>
              <a:t>price,rent</a:t>
            </a:r>
            <a:r>
              <a:rPr lang="en-IN" dirty="0">
                <a:latin typeface="Consolas" panose="020B0609020204030204" pitchFamily="49" charset="0"/>
              </a:rPr>
              <a:t>.</a:t>
            </a:r>
            <a:endParaRPr lang="en-IN" b="0" dirty="0">
              <a:effectLst/>
              <a:latin typeface="Consolas" panose="020B0609020204030204" pitchFamily="49" charset="0"/>
            </a:endParaRPr>
          </a:p>
          <a:p>
            <a:r>
              <a:rPr lang="en-IN" dirty="0"/>
              <a:t>This is the dataset on which the FFNN is trained that is stored in the header file.</a:t>
            </a:r>
          </a:p>
          <a:p>
            <a:r>
              <a:rPr lang="en-IN" dirty="0"/>
              <a:t>Now the below given python code is used as an interface to run the demonstration and observe the results on predicted output vs actual output. </a:t>
            </a:r>
          </a:p>
        </p:txBody>
      </p:sp>
    </p:spTree>
    <p:extLst>
      <p:ext uri="{BB962C8B-B14F-4D97-AF65-F5344CB8AC3E}">
        <p14:creationId xmlns:p14="http://schemas.microsoft.com/office/powerpoint/2010/main" val="18886903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F7A5A0-087C-7539-F3D1-03C4350F9607}"/>
              </a:ext>
            </a:extLst>
          </p:cNvPr>
          <p:cNvSpPr>
            <a:spLocks noGrp="1"/>
          </p:cNvSpPr>
          <p:nvPr>
            <p:ph type="title"/>
          </p:nvPr>
        </p:nvSpPr>
        <p:spPr/>
        <p:txBody>
          <a:bodyPr/>
          <a:lstStyle/>
          <a:p>
            <a:r>
              <a:rPr lang="en-US" dirty="0"/>
              <a:t>Demonstration and result</a:t>
            </a:r>
            <a:endParaRPr lang="en-IN" dirty="0"/>
          </a:p>
        </p:txBody>
      </p:sp>
      <p:sp>
        <p:nvSpPr>
          <p:cNvPr id="3" name="TextBox 2">
            <a:extLst>
              <a:ext uri="{FF2B5EF4-FFF2-40B4-BE49-F238E27FC236}">
                <a16:creationId xmlns:a16="http://schemas.microsoft.com/office/drawing/2014/main" id="{A6CD5E26-8BF3-0101-12D3-0CBE8F643F4D}"/>
              </a:ext>
            </a:extLst>
          </p:cNvPr>
          <p:cNvSpPr txBox="1"/>
          <p:nvPr/>
        </p:nvSpPr>
        <p:spPr>
          <a:xfrm>
            <a:off x="1772529" y="2097087"/>
            <a:ext cx="8778240" cy="4595232"/>
          </a:xfrm>
          <a:prstGeom prst="rect">
            <a:avLst/>
          </a:prstGeom>
          <a:solidFill>
            <a:schemeClr val="bg1">
              <a:lumMod val="95000"/>
              <a:lumOff val="5000"/>
            </a:schemeClr>
          </a:solidFill>
        </p:spPr>
        <p:txBody>
          <a:bodyPr wrap="square" rtlCol="0">
            <a:spAutoFit/>
          </a:bodyPr>
          <a:lstStyle/>
          <a:p>
            <a:pPr>
              <a:lnSpc>
                <a:spcPts val="1425"/>
              </a:lnSpc>
              <a:buNone/>
            </a:pPr>
            <a:r>
              <a:rPr lang="en-IN" b="0">
                <a:solidFill>
                  <a:srgbClr val="C586C0"/>
                </a:solidFill>
                <a:effectLst/>
                <a:latin typeface="Consolas" panose="020B0609020204030204" pitchFamily="49" charset="0"/>
              </a:rPr>
              <a:t>import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pandas</a:t>
            </a:r>
            <a:r>
              <a:rPr lang="en-IN" b="0">
                <a:solidFill>
                  <a:srgbClr val="CCCCCC"/>
                </a:solidFill>
                <a:effectLst/>
                <a:latin typeface="Consolas" panose="020B0609020204030204" pitchFamily="49" charset="0"/>
              </a:rPr>
              <a:t> </a:t>
            </a:r>
            <a:r>
              <a:rPr lang="en-IN" b="0">
                <a:solidFill>
                  <a:srgbClr val="C586C0"/>
                </a:solidFill>
                <a:effectLst/>
                <a:latin typeface="Consolas" panose="020B0609020204030204" pitchFamily="49" charset="0"/>
              </a:rPr>
              <a:t>as</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pd</a:t>
            </a:r>
            <a:endParaRPr lang="en-IN" b="0">
              <a:solidFill>
                <a:srgbClr val="CCCCCC"/>
              </a:solidFill>
              <a:effectLst/>
              <a:latin typeface="Consolas" panose="020B0609020204030204" pitchFamily="49" charset="0"/>
            </a:endParaRPr>
          </a:p>
          <a:p>
            <a:pPr>
              <a:lnSpc>
                <a:spcPts val="1425"/>
              </a:lnSpc>
              <a:buNone/>
            </a:pPr>
            <a:r>
              <a:rPr lang="en-IN" b="0">
                <a:solidFill>
                  <a:srgbClr val="C586C0"/>
                </a:solidFill>
                <a:effectLst/>
                <a:latin typeface="Consolas" panose="020B0609020204030204" pitchFamily="49" charset="0"/>
              </a:rPr>
              <a:t>import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serial</a:t>
            </a:r>
            <a:endParaRPr lang="en-IN" b="0">
              <a:solidFill>
                <a:srgbClr val="CCCCCC"/>
              </a:solidFill>
              <a:effectLst/>
              <a:latin typeface="Consolas" panose="020B0609020204030204" pitchFamily="49" charset="0"/>
            </a:endParaRPr>
          </a:p>
          <a:p>
            <a:pPr>
              <a:lnSpc>
                <a:spcPts val="1425"/>
              </a:lnSpc>
              <a:buNone/>
            </a:pPr>
            <a:r>
              <a:rPr lang="en-IN" b="0">
                <a:solidFill>
                  <a:srgbClr val="C586C0"/>
                </a:solidFill>
                <a:effectLst/>
                <a:latin typeface="Consolas" panose="020B0609020204030204" pitchFamily="49" charset="0"/>
              </a:rPr>
              <a:t>import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time</a:t>
            </a:r>
            <a:endParaRPr lang="en-IN" b="0">
              <a:solidFill>
                <a:srgbClr val="CCCCCC"/>
              </a:solidFill>
              <a:effectLst/>
              <a:latin typeface="Consolas" panose="020B0609020204030204" pitchFamily="49" charset="0"/>
            </a:endParaRPr>
          </a:p>
          <a:p>
            <a:pPr>
              <a:lnSpc>
                <a:spcPts val="1425"/>
              </a:lnSpc>
              <a:buNone/>
            </a:pPr>
            <a:r>
              <a:rPr lang="en-IN" b="0">
                <a:solidFill>
                  <a:srgbClr val="C586C0"/>
                </a:solidFill>
                <a:effectLst/>
                <a:latin typeface="Consolas" panose="020B0609020204030204" pitchFamily="49" charset="0"/>
              </a:rPr>
              <a:t>import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numpy</a:t>
            </a:r>
            <a:r>
              <a:rPr lang="en-IN" b="0">
                <a:solidFill>
                  <a:srgbClr val="CCCCCC"/>
                </a:solidFill>
                <a:effectLst/>
                <a:latin typeface="Consolas" panose="020B0609020204030204" pitchFamily="49" charset="0"/>
              </a:rPr>
              <a:t> </a:t>
            </a:r>
            <a:r>
              <a:rPr lang="en-IN" b="0">
                <a:solidFill>
                  <a:srgbClr val="C586C0"/>
                </a:solidFill>
                <a:effectLst/>
                <a:latin typeface="Consolas" panose="020B0609020204030204" pitchFamily="49" charset="0"/>
              </a:rPr>
              <a:t>as</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np</a:t>
            </a:r>
            <a:endParaRPr lang="en-IN" b="0">
              <a:solidFill>
                <a:srgbClr val="CCCCCC"/>
              </a:solidFill>
              <a:effectLst/>
              <a:latin typeface="Consolas" panose="020B0609020204030204" pitchFamily="49" charset="0"/>
            </a:endParaRPr>
          </a:p>
          <a:p>
            <a:pPr>
              <a:lnSpc>
                <a:spcPts val="1425"/>
              </a:lnSpc>
              <a:buNone/>
            </a:pPr>
            <a:r>
              <a:rPr lang="en-IN" b="0">
                <a:solidFill>
                  <a:srgbClr val="C586C0"/>
                </a:solidFill>
                <a:effectLst/>
                <a:latin typeface="Consolas" panose="020B0609020204030204" pitchFamily="49" charset="0"/>
              </a:rPr>
              <a:t>import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matplotlib</a:t>
            </a:r>
            <a:r>
              <a:rPr lang="en-IN" b="0">
                <a:solidFill>
                  <a:srgbClr val="CCCCCC"/>
                </a:solidFill>
                <a:effectLst/>
                <a:latin typeface="Consolas" panose="020B0609020204030204" pitchFamily="49" charset="0"/>
              </a:rPr>
              <a:t>.</a:t>
            </a:r>
            <a:r>
              <a:rPr lang="en-IN" b="0">
                <a:solidFill>
                  <a:srgbClr val="4EC9B0"/>
                </a:solidFill>
                <a:effectLst/>
                <a:latin typeface="Consolas" panose="020B0609020204030204" pitchFamily="49" charset="0"/>
              </a:rPr>
              <a:t>pyplot</a:t>
            </a:r>
            <a:r>
              <a:rPr lang="en-IN" b="0">
                <a:solidFill>
                  <a:srgbClr val="CCCCCC"/>
                </a:solidFill>
                <a:effectLst/>
                <a:latin typeface="Consolas" panose="020B0609020204030204" pitchFamily="49" charset="0"/>
              </a:rPr>
              <a:t> </a:t>
            </a:r>
            <a:r>
              <a:rPr lang="en-IN" b="0">
                <a:solidFill>
                  <a:srgbClr val="C586C0"/>
                </a:solidFill>
                <a:effectLst/>
                <a:latin typeface="Consolas" panose="020B0609020204030204" pitchFamily="49" charset="0"/>
              </a:rPr>
              <a:t>as</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plt</a:t>
            </a:r>
            <a:endParaRPr lang="en-IN" b="0">
              <a:solidFill>
                <a:srgbClr val="CCCCCC"/>
              </a:solidFill>
              <a:effectLst/>
              <a:latin typeface="Consolas" panose="020B0609020204030204" pitchFamily="49" charset="0"/>
            </a:endParaRPr>
          </a:p>
          <a:p>
            <a:pPr>
              <a:lnSpc>
                <a:spcPts val="1425"/>
              </a:lnSpc>
              <a:buNone/>
            </a:pPr>
            <a:br>
              <a:rPr lang="en-IN" b="0">
                <a:solidFill>
                  <a:srgbClr val="CCCCCC"/>
                </a:solidFill>
                <a:effectLst/>
                <a:latin typeface="Consolas" panose="020B0609020204030204" pitchFamily="49" charset="0"/>
              </a:rPr>
            </a:br>
            <a:r>
              <a:rPr lang="en-IN" b="0">
                <a:solidFill>
                  <a:srgbClr val="9CDCFE"/>
                </a:solidFill>
                <a:effectLst/>
                <a:latin typeface="Consolas" panose="020B0609020204030204" pitchFamily="49" charset="0"/>
              </a:rPr>
              <a:t>df</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pd</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read_csv</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"house_data_balanced.csv"</a:t>
            </a:r>
            <a:r>
              <a:rPr lang="en-IN" b="0">
                <a:solidFill>
                  <a:srgbClr val="CCCCCC"/>
                </a:solidFill>
                <a:effectLst/>
                <a:latin typeface="Consolas" panose="020B0609020204030204" pitchFamily="49" charset="0"/>
              </a:rPr>
              <a:t>)</a:t>
            </a:r>
          </a:p>
          <a:p>
            <a:pPr>
              <a:lnSpc>
                <a:spcPts val="1425"/>
              </a:lnSpc>
              <a:buNone/>
            </a:pPr>
            <a:br>
              <a:rPr lang="en-IN" b="0">
                <a:solidFill>
                  <a:srgbClr val="CCCCCC"/>
                </a:solidFill>
                <a:effectLst/>
                <a:latin typeface="Consolas" panose="020B0609020204030204" pitchFamily="49" charset="0"/>
              </a:rPr>
            </a:br>
            <a:r>
              <a:rPr lang="en-IN" b="0">
                <a:solidFill>
                  <a:srgbClr val="6A9955"/>
                </a:solidFill>
                <a:effectLst/>
                <a:latin typeface="Consolas" panose="020B0609020204030204" pitchFamily="49" charset="0"/>
              </a:rPr>
              <a:t># print(df)</a:t>
            </a:r>
            <a:endParaRPr lang="en-IN" b="0">
              <a:solidFill>
                <a:srgbClr val="CCCCCC"/>
              </a:solidFill>
              <a:effectLst/>
              <a:latin typeface="Consolas" panose="020B0609020204030204" pitchFamily="49" charset="0"/>
            </a:endParaRPr>
          </a:p>
          <a:p>
            <a:pPr>
              <a:lnSpc>
                <a:spcPts val="1425"/>
              </a:lnSpc>
              <a:buNone/>
            </a:pPr>
            <a:br>
              <a:rPr lang="en-IN" b="0">
                <a:solidFill>
                  <a:srgbClr val="CCCCCC"/>
                </a:solidFill>
                <a:effectLst/>
                <a:latin typeface="Consolas" panose="020B0609020204030204" pitchFamily="49" charset="0"/>
              </a:rPr>
            </a:br>
            <a:r>
              <a:rPr lang="en-IN" b="0">
                <a:solidFill>
                  <a:srgbClr val="4FC1FF"/>
                </a:solidFill>
                <a:effectLst/>
                <a:latin typeface="Consolas" panose="020B0609020204030204" pitchFamily="49" charset="0"/>
              </a:rPr>
              <a:t>X</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df</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"square_feet"</a:t>
            </a:r>
            <a:r>
              <a:rPr lang="en-IN" b="0">
                <a:solidFill>
                  <a:srgbClr val="CCCCCC"/>
                </a:solidFill>
                <a:effectLst/>
                <a:latin typeface="Consolas" panose="020B0609020204030204" pitchFamily="49" charset="0"/>
              </a:rPr>
              <a:t>, </a:t>
            </a:r>
            <a:r>
              <a:rPr lang="en-IN" b="0">
                <a:solidFill>
                  <a:srgbClr val="CE9178"/>
                </a:solidFill>
                <a:effectLst/>
                <a:latin typeface="Consolas" panose="020B0609020204030204" pitchFamily="49" charset="0"/>
              </a:rPr>
              <a:t>"bedrooms"</a:t>
            </a:r>
            <a:r>
              <a:rPr lang="en-IN" b="0">
                <a:solidFill>
                  <a:srgbClr val="CCCCCC"/>
                </a:solidFill>
                <a:effectLst/>
                <a:latin typeface="Consolas" panose="020B0609020204030204" pitchFamily="49" charset="0"/>
              </a:rPr>
              <a:t>, </a:t>
            </a:r>
            <a:r>
              <a:rPr lang="en-IN" b="0">
                <a:solidFill>
                  <a:srgbClr val="CE9178"/>
                </a:solidFill>
                <a:effectLst/>
                <a:latin typeface="Consolas" panose="020B0609020204030204" pitchFamily="49" charset="0"/>
              </a:rPr>
              <a:t>"house_age"</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values</a:t>
            </a:r>
            <a:endParaRPr lang="en-IN" b="0">
              <a:solidFill>
                <a:srgbClr val="CCCCCC"/>
              </a:solidFill>
              <a:effectLst/>
              <a:latin typeface="Consolas" panose="020B0609020204030204" pitchFamily="49" charset="0"/>
            </a:endParaRPr>
          </a:p>
          <a:p>
            <a:pPr>
              <a:lnSpc>
                <a:spcPts val="1425"/>
              </a:lnSpc>
              <a:buNone/>
            </a:pPr>
            <a:r>
              <a:rPr lang="en-IN" b="0">
                <a:solidFill>
                  <a:srgbClr val="9CDCFE"/>
                </a:solidFill>
                <a:effectLst/>
                <a:latin typeface="Consolas" panose="020B0609020204030204" pitchFamily="49" charset="0"/>
              </a:rPr>
              <a:t>y</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df</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"price"</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"rent"</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values</a:t>
            </a:r>
            <a:r>
              <a:rPr lang="en-IN" b="0">
                <a:solidFill>
                  <a:srgbClr val="CCCCCC"/>
                </a:solidFill>
                <a:effectLst/>
                <a:latin typeface="Consolas" panose="020B0609020204030204" pitchFamily="49" charset="0"/>
              </a:rPr>
              <a:t>  </a:t>
            </a:r>
            <a:r>
              <a:rPr lang="en-IN" b="0">
                <a:solidFill>
                  <a:srgbClr val="6A9955"/>
                </a:solidFill>
                <a:effectLst/>
                <a:latin typeface="Consolas" panose="020B0609020204030204" pitchFamily="49" charset="0"/>
              </a:rPr>
              <a:t># 2D output</a:t>
            </a:r>
            <a:endParaRPr lang="en-IN" b="0">
              <a:solidFill>
                <a:srgbClr val="CCCCCC"/>
              </a:solidFill>
              <a:effectLst/>
              <a:latin typeface="Consolas" panose="020B0609020204030204" pitchFamily="49" charset="0"/>
            </a:endParaRPr>
          </a:p>
          <a:p>
            <a:pPr>
              <a:lnSpc>
                <a:spcPts val="1425"/>
              </a:lnSpc>
              <a:buNone/>
            </a:pPr>
            <a:br>
              <a:rPr lang="en-IN" b="0">
                <a:solidFill>
                  <a:srgbClr val="CCCCCC"/>
                </a:solidFill>
                <a:effectLst/>
                <a:latin typeface="Consolas" panose="020B0609020204030204" pitchFamily="49" charset="0"/>
              </a:rPr>
            </a:br>
            <a:r>
              <a:rPr lang="en-IN" b="0">
                <a:solidFill>
                  <a:srgbClr val="9CDCFE"/>
                </a:solidFill>
                <a:effectLst/>
                <a:latin typeface="Consolas" panose="020B0609020204030204" pitchFamily="49" charset="0"/>
              </a:rPr>
              <a:t>X_mean</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4FC1FF"/>
                </a:solidFill>
                <a:effectLst/>
                <a:latin typeface="Consolas" panose="020B0609020204030204" pitchFamily="49" charset="0"/>
              </a:rPr>
              <a:t>X</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mean</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axis</a:t>
            </a:r>
            <a:r>
              <a:rPr lang="en-IN" b="0">
                <a:solidFill>
                  <a:srgbClr val="D4D4D4"/>
                </a:solidFill>
                <a:effectLst/>
                <a:latin typeface="Consolas" panose="020B0609020204030204" pitchFamily="49" charset="0"/>
              </a:rPr>
              <a:t>=</a:t>
            </a:r>
            <a:r>
              <a:rPr lang="en-IN" b="0">
                <a:solidFill>
                  <a:srgbClr val="B5CEA8"/>
                </a:solidFill>
                <a:effectLst/>
                <a:latin typeface="Consolas" panose="020B0609020204030204" pitchFamily="49" charset="0"/>
              </a:rPr>
              <a:t>0</a:t>
            </a:r>
            <a:r>
              <a:rPr lang="en-IN" b="0">
                <a:solidFill>
                  <a:srgbClr val="CCCCCC"/>
                </a:solidFill>
                <a:effectLst/>
                <a:latin typeface="Consolas" panose="020B0609020204030204" pitchFamily="49" charset="0"/>
              </a:rPr>
              <a:t>)</a:t>
            </a:r>
          </a:p>
          <a:p>
            <a:pPr>
              <a:lnSpc>
                <a:spcPts val="1425"/>
              </a:lnSpc>
              <a:buNone/>
            </a:pPr>
            <a:r>
              <a:rPr lang="en-IN" b="0">
                <a:solidFill>
                  <a:srgbClr val="9CDCFE"/>
                </a:solidFill>
                <a:effectLst/>
                <a:latin typeface="Consolas" panose="020B0609020204030204" pitchFamily="49" charset="0"/>
              </a:rPr>
              <a:t>X_std</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4FC1FF"/>
                </a:solidFill>
                <a:effectLst/>
                <a:latin typeface="Consolas" panose="020B0609020204030204" pitchFamily="49" charset="0"/>
              </a:rPr>
              <a:t>X</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std</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axis</a:t>
            </a:r>
            <a:r>
              <a:rPr lang="en-IN" b="0">
                <a:solidFill>
                  <a:srgbClr val="D4D4D4"/>
                </a:solidFill>
                <a:effectLst/>
                <a:latin typeface="Consolas" panose="020B0609020204030204" pitchFamily="49" charset="0"/>
              </a:rPr>
              <a:t>=</a:t>
            </a:r>
            <a:r>
              <a:rPr lang="en-IN" b="0">
                <a:solidFill>
                  <a:srgbClr val="B5CEA8"/>
                </a:solidFill>
                <a:effectLst/>
                <a:latin typeface="Consolas" panose="020B0609020204030204" pitchFamily="49" charset="0"/>
              </a:rPr>
              <a:t>0</a:t>
            </a:r>
            <a:r>
              <a:rPr lang="en-IN" b="0">
                <a:solidFill>
                  <a:srgbClr val="CCCCCC"/>
                </a:solidFill>
                <a:effectLst/>
                <a:latin typeface="Consolas" panose="020B0609020204030204" pitchFamily="49" charset="0"/>
              </a:rPr>
              <a:t>)</a:t>
            </a:r>
          </a:p>
          <a:p>
            <a:pPr>
              <a:lnSpc>
                <a:spcPts val="1425"/>
              </a:lnSpc>
              <a:buNone/>
            </a:pPr>
            <a:br>
              <a:rPr lang="en-IN" b="0">
                <a:solidFill>
                  <a:srgbClr val="CCCCCC"/>
                </a:solidFill>
                <a:effectLst/>
                <a:latin typeface="Consolas" panose="020B0609020204030204" pitchFamily="49" charset="0"/>
              </a:rPr>
            </a:br>
            <a:r>
              <a:rPr lang="en-IN" b="0">
                <a:solidFill>
                  <a:srgbClr val="9CDCFE"/>
                </a:solidFill>
                <a:effectLst/>
                <a:latin typeface="Consolas" panose="020B0609020204030204" pitchFamily="49" charset="0"/>
              </a:rPr>
              <a:t>y_mean</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y</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mean</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axis</a:t>
            </a:r>
            <a:r>
              <a:rPr lang="en-IN" b="0">
                <a:solidFill>
                  <a:srgbClr val="D4D4D4"/>
                </a:solidFill>
                <a:effectLst/>
                <a:latin typeface="Consolas" panose="020B0609020204030204" pitchFamily="49" charset="0"/>
              </a:rPr>
              <a:t>=</a:t>
            </a:r>
            <a:r>
              <a:rPr lang="en-IN" b="0">
                <a:solidFill>
                  <a:srgbClr val="B5CEA8"/>
                </a:solidFill>
                <a:effectLst/>
                <a:latin typeface="Consolas" panose="020B0609020204030204" pitchFamily="49" charset="0"/>
              </a:rPr>
              <a:t>0</a:t>
            </a:r>
            <a:r>
              <a:rPr lang="en-IN" b="0">
                <a:solidFill>
                  <a:srgbClr val="CCCCCC"/>
                </a:solidFill>
                <a:effectLst/>
                <a:latin typeface="Consolas" panose="020B0609020204030204" pitchFamily="49" charset="0"/>
              </a:rPr>
              <a:t>)</a:t>
            </a:r>
          </a:p>
          <a:p>
            <a:pPr>
              <a:lnSpc>
                <a:spcPts val="1425"/>
              </a:lnSpc>
              <a:buNone/>
            </a:pPr>
            <a:r>
              <a:rPr lang="en-IN" b="0">
                <a:solidFill>
                  <a:srgbClr val="9CDCFE"/>
                </a:solidFill>
                <a:effectLst/>
                <a:latin typeface="Consolas" panose="020B0609020204030204" pitchFamily="49" charset="0"/>
              </a:rPr>
              <a:t>y_std</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y</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std</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axis</a:t>
            </a:r>
            <a:r>
              <a:rPr lang="en-IN" b="0">
                <a:solidFill>
                  <a:srgbClr val="D4D4D4"/>
                </a:solidFill>
                <a:effectLst/>
                <a:latin typeface="Consolas" panose="020B0609020204030204" pitchFamily="49" charset="0"/>
              </a:rPr>
              <a:t>=</a:t>
            </a:r>
            <a:r>
              <a:rPr lang="en-IN" b="0">
                <a:solidFill>
                  <a:srgbClr val="B5CEA8"/>
                </a:solidFill>
                <a:effectLst/>
                <a:latin typeface="Consolas" panose="020B0609020204030204" pitchFamily="49" charset="0"/>
              </a:rPr>
              <a:t>0</a:t>
            </a:r>
            <a:r>
              <a:rPr lang="en-IN" b="0">
                <a:solidFill>
                  <a:srgbClr val="CCCCCC"/>
                </a:solidFill>
                <a:effectLst/>
                <a:latin typeface="Consolas" panose="020B0609020204030204" pitchFamily="49" charset="0"/>
              </a:rPr>
              <a:t>)</a:t>
            </a:r>
          </a:p>
          <a:p>
            <a:pPr>
              <a:lnSpc>
                <a:spcPts val="1425"/>
              </a:lnSpc>
              <a:buNone/>
            </a:pPr>
            <a:br>
              <a:rPr lang="en-IN" b="0">
                <a:solidFill>
                  <a:srgbClr val="CCCCCC"/>
                </a:solidFill>
                <a:effectLst/>
                <a:latin typeface="Consolas" panose="020B0609020204030204" pitchFamily="49" charset="0"/>
              </a:rPr>
            </a:br>
            <a:r>
              <a:rPr lang="en-IN" b="0">
                <a:solidFill>
                  <a:srgbClr val="9CDCFE"/>
                </a:solidFill>
                <a:effectLst/>
                <a:latin typeface="Consolas" panose="020B0609020204030204" pitchFamily="49" charset="0"/>
              </a:rPr>
              <a:t>x</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4FC1FF"/>
                </a:solidFill>
                <a:effectLst/>
                <a:latin typeface="Consolas" panose="020B0609020204030204" pitchFamily="49" charset="0"/>
              </a:rPr>
              <a:t>X</a:t>
            </a:r>
            <a:r>
              <a:rPr lang="en-IN" b="0">
                <a:solidFill>
                  <a:srgbClr val="CCCCCC"/>
                </a:solidFill>
                <a:effectLst/>
                <a:latin typeface="Consolas" panose="020B0609020204030204" pitchFamily="49" charset="0"/>
              </a:rPr>
              <a:t> </a:t>
            </a:r>
            <a:r>
              <a:rPr lang="en-IN" b="0">
                <a:solidFill>
                  <a:srgbClr val="DCDCAA"/>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X_mean</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X_std</a:t>
            </a:r>
            <a:r>
              <a:rPr lang="en-IN" b="0">
                <a:solidFill>
                  <a:srgbClr val="CCCCCC"/>
                </a:solidFill>
                <a:effectLst/>
                <a:latin typeface="Consolas" panose="020B0609020204030204" pitchFamily="49" charset="0"/>
              </a:rPr>
              <a:t>  </a:t>
            </a:r>
            <a:r>
              <a:rPr lang="en-IN" b="0">
                <a:solidFill>
                  <a:srgbClr val="6A9955"/>
                </a:solidFill>
                <a:effectLst/>
                <a:latin typeface="Consolas" panose="020B0609020204030204" pitchFamily="49" charset="0"/>
              </a:rPr>
              <a:t># Standardization</a:t>
            </a:r>
            <a:endParaRPr lang="en-IN" b="0">
              <a:solidFill>
                <a:srgbClr val="CCCCCC"/>
              </a:solidFill>
              <a:effectLst/>
              <a:latin typeface="Consolas" panose="020B0609020204030204" pitchFamily="49" charset="0"/>
            </a:endParaRPr>
          </a:p>
          <a:p>
            <a:pPr>
              <a:lnSpc>
                <a:spcPts val="1425"/>
              </a:lnSpc>
              <a:buNone/>
            </a:pPr>
            <a:r>
              <a:rPr lang="en-IN" b="0">
                <a:solidFill>
                  <a:srgbClr val="6A9955"/>
                </a:solidFill>
                <a:effectLst/>
                <a:latin typeface="Consolas" panose="020B0609020204030204" pitchFamily="49" charset="0"/>
              </a:rPr>
              <a:t># y = (y - y_mean) / y_std</a:t>
            </a:r>
            <a:endParaRPr lang="en-IN" b="0">
              <a:solidFill>
                <a:srgbClr val="CCCCCC"/>
              </a:solidFill>
              <a:effectLst/>
              <a:latin typeface="Consolas" panose="020B0609020204030204" pitchFamily="49" charset="0"/>
            </a:endParaRPr>
          </a:p>
          <a:p>
            <a:pPr>
              <a:lnSpc>
                <a:spcPts val="1425"/>
              </a:lnSpc>
              <a:buNone/>
            </a:pPr>
            <a:br>
              <a:rPr lang="en-IN" b="0">
                <a:solidFill>
                  <a:srgbClr val="CCCCCC"/>
                </a:solidFill>
                <a:effectLst/>
                <a:latin typeface="Consolas" panose="020B0609020204030204" pitchFamily="49" charset="0"/>
              </a:rPr>
            </a:br>
            <a:r>
              <a:rPr lang="en-IN" b="0">
                <a:solidFill>
                  <a:srgbClr val="9CDCFE"/>
                </a:solidFill>
                <a:effectLst/>
                <a:latin typeface="Consolas" panose="020B0609020204030204" pitchFamily="49" charset="0"/>
              </a:rPr>
              <a:t>ser</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serial</a:t>
            </a:r>
            <a:r>
              <a:rPr lang="en-IN" b="0">
                <a:solidFill>
                  <a:srgbClr val="CCCCCC"/>
                </a:solidFill>
                <a:effectLst/>
                <a:latin typeface="Consolas" panose="020B0609020204030204" pitchFamily="49" charset="0"/>
              </a:rPr>
              <a:t>.</a:t>
            </a:r>
            <a:r>
              <a:rPr lang="en-IN" b="0">
                <a:solidFill>
                  <a:srgbClr val="4EC9B0"/>
                </a:solidFill>
                <a:effectLst/>
                <a:latin typeface="Consolas" panose="020B0609020204030204" pitchFamily="49" charset="0"/>
              </a:rPr>
              <a:t>Serial</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'COM4'</a:t>
            </a:r>
            <a:r>
              <a:rPr lang="en-IN" b="0">
                <a:solidFill>
                  <a:srgbClr val="CCCCCC"/>
                </a:solidFill>
                <a:effectLst/>
                <a:latin typeface="Consolas" panose="020B0609020204030204" pitchFamily="49" charset="0"/>
              </a:rPr>
              <a:t>, </a:t>
            </a:r>
            <a:r>
              <a:rPr lang="en-IN" b="0">
                <a:solidFill>
                  <a:srgbClr val="B5CEA8"/>
                </a:solidFill>
                <a:effectLst/>
                <a:latin typeface="Consolas" panose="020B0609020204030204" pitchFamily="49" charset="0"/>
              </a:rPr>
              <a:t>9600</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timeout</a:t>
            </a:r>
            <a:r>
              <a:rPr lang="en-IN" b="0">
                <a:solidFill>
                  <a:srgbClr val="D4D4D4"/>
                </a:solidFill>
                <a:effectLst/>
                <a:latin typeface="Consolas" panose="020B0609020204030204" pitchFamily="49" charset="0"/>
              </a:rPr>
              <a:t>=</a:t>
            </a:r>
            <a:r>
              <a:rPr lang="en-IN" b="0">
                <a:solidFill>
                  <a:srgbClr val="B5CEA8"/>
                </a:solidFill>
                <a:effectLst/>
                <a:latin typeface="Consolas" panose="020B0609020204030204" pitchFamily="49" charset="0"/>
              </a:rPr>
              <a:t>1</a:t>
            </a:r>
            <a:r>
              <a:rPr lang="en-IN" b="0">
                <a:solidFill>
                  <a:srgbClr val="CCCCCC"/>
                </a:solidFill>
                <a:effectLst/>
                <a:latin typeface="Consolas" panose="020B0609020204030204" pitchFamily="49" charset="0"/>
              </a:rPr>
              <a:t>)</a:t>
            </a:r>
          </a:p>
          <a:p>
            <a:pPr>
              <a:lnSpc>
                <a:spcPts val="1425"/>
              </a:lnSpc>
            </a:pPr>
            <a:br>
              <a:rPr lang="en-IN" b="0">
                <a:solidFill>
                  <a:srgbClr val="CCCCCC"/>
                </a:solidFill>
                <a:effectLst/>
                <a:latin typeface="Consolas" panose="020B0609020204030204" pitchFamily="49" charset="0"/>
              </a:rPr>
            </a:br>
            <a:r>
              <a:rPr lang="en-IN" b="0">
                <a:solidFill>
                  <a:srgbClr val="4EC9B0"/>
                </a:solidFill>
                <a:effectLst/>
                <a:latin typeface="Consolas" panose="020B0609020204030204" pitchFamily="49" charset="0"/>
              </a:rPr>
              <a:t>time</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sleep</a:t>
            </a:r>
            <a:r>
              <a:rPr lang="en-IN" b="0">
                <a:solidFill>
                  <a:srgbClr val="CCCCCC"/>
                </a:solidFill>
                <a:effectLst/>
                <a:latin typeface="Consolas" panose="020B0609020204030204" pitchFamily="49" charset="0"/>
              </a:rPr>
              <a:t>(</a:t>
            </a:r>
            <a:r>
              <a:rPr lang="en-IN" b="0">
                <a:solidFill>
                  <a:srgbClr val="B5CEA8"/>
                </a:solidFill>
                <a:effectLst/>
                <a:latin typeface="Consolas" panose="020B0609020204030204" pitchFamily="49" charset="0"/>
              </a:rPr>
              <a:t>5</a:t>
            </a:r>
            <a:r>
              <a:rPr lang="en-IN" b="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18530008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E9B0DB-634A-A10E-15FA-4B2F6F1530FB}"/>
              </a:ext>
            </a:extLst>
          </p:cNvPr>
          <p:cNvSpPr>
            <a:spLocks noGrp="1"/>
          </p:cNvSpPr>
          <p:nvPr>
            <p:ph type="title"/>
          </p:nvPr>
        </p:nvSpPr>
        <p:spPr/>
        <p:txBody>
          <a:bodyPr/>
          <a:lstStyle/>
          <a:p>
            <a:r>
              <a:rPr lang="en-US" dirty="0"/>
              <a:t>Demonstration and result</a:t>
            </a:r>
            <a:endParaRPr lang="en-IN" dirty="0"/>
          </a:p>
        </p:txBody>
      </p:sp>
      <p:sp>
        <p:nvSpPr>
          <p:cNvPr id="3" name="TextBox 2">
            <a:extLst>
              <a:ext uri="{FF2B5EF4-FFF2-40B4-BE49-F238E27FC236}">
                <a16:creationId xmlns:a16="http://schemas.microsoft.com/office/drawing/2014/main" id="{CBA18EA3-58D0-D948-374F-E9AB84FCC2EA}"/>
              </a:ext>
            </a:extLst>
          </p:cNvPr>
          <p:cNvSpPr txBox="1"/>
          <p:nvPr/>
        </p:nvSpPr>
        <p:spPr>
          <a:xfrm>
            <a:off x="1141413" y="1744395"/>
            <a:ext cx="9905998" cy="4415696"/>
          </a:xfrm>
          <a:prstGeom prst="rect">
            <a:avLst/>
          </a:prstGeom>
          <a:solidFill>
            <a:schemeClr val="bg1">
              <a:lumMod val="95000"/>
              <a:lumOff val="5000"/>
            </a:schemeClr>
          </a:solidFill>
        </p:spPr>
        <p:txBody>
          <a:bodyPr wrap="square" rtlCol="0">
            <a:spAutoFit/>
          </a:bodyPr>
          <a:lstStyle/>
          <a:p>
            <a:pPr>
              <a:lnSpc>
                <a:spcPts val="1425"/>
              </a:lnSpc>
              <a:buNone/>
            </a:pPr>
            <a:r>
              <a:rPr lang="en-IN" b="0">
                <a:solidFill>
                  <a:srgbClr val="4FC1FF"/>
                </a:solidFill>
                <a:effectLst/>
                <a:latin typeface="Consolas" panose="020B0609020204030204" pitchFamily="49" charset="0"/>
              </a:rPr>
              <a:t>Y</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p>
          <a:p>
            <a:pPr>
              <a:lnSpc>
                <a:spcPts val="1425"/>
              </a:lnSpc>
              <a:buNone/>
            </a:pPr>
            <a:r>
              <a:rPr lang="en-IN" b="0">
                <a:solidFill>
                  <a:srgbClr val="9CDCFE"/>
                </a:solidFill>
                <a:effectLst/>
                <a:latin typeface="Consolas" panose="020B0609020204030204" pitchFamily="49" charset="0"/>
              </a:rPr>
              <a:t>i</a:t>
            </a:r>
            <a:r>
              <a:rPr lang="en-IN" b="0">
                <a:solidFill>
                  <a:srgbClr val="D4D4D4"/>
                </a:solidFill>
                <a:effectLst/>
                <a:latin typeface="Consolas" panose="020B0609020204030204" pitchFamily="49" charset="0"/>
              </a:rPr>
              <a:t>=</a:t>
            </a:r>
            <a:r>
              <a:rPr lang="en-IN" b="0">
                <a:solidFill>
                  <a:srgbClr val="B5CEA8"/>
                </a:solidFill>
                <a:effectLst/>
                <a:latin typeface="Consolas" panose="020B0609020204030204" pitchFamily="49" charset="0"/>
              </a:rPr>
              <a:t>0</a:t>
            </a:r>
            <a:endParaRPr lang="en-IN" b="0">
              <a:solidFill>
                <a:srgbClr val="CCCCCC"/>
              </a:solidFill>
              <a:effectLst/>
              <a:latin typeface="Consolas" panose="020B0609020204030204" pitchFamily="49" charset="0"/>
            </a:endParaRPr>
          </a:p>
          <a:p>
            <a:pPr>
              <a:lnSpc>
                <a:spcPts val="1425"/>
              </a:lnSpc>
              <a:buNone/>
            </a:pPr>
            <a:r>
              <a:rPr lang="en-IN" b="0">
                <a:solidFill>
                  <a:srgbClr val="C586C0"/>
                </a:solidFill>
                <a:effectLst/>
                <a:latin typeface="Consolas" panose="020B0609020204030204" pitchFamily="49" charset="0"/>
              </a:rPr>
              <a:t>for</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x_1d</a:t>
            </a:r>
            <a:r>
              <a:rPr lang="en-IN" b="0">
                <a:solidFill>
                  <a:srgbClr val="CCCCCC"/>
                </a:solidFill>
                <a:effectLst/>
                <a:latin typeface="Consolas" panose="020B0609020204030204" pitchFamily="49" charset="0"/>
              </a:rPr>
              <a:t> </a:t>
            </a:r>
            <a:r>
              <a:rPr lang="en-IN" b="0">
                <a:solidFill>
                  <a:srgbClr val="C586C0"/>
                </a:solidFill>
                <a:effectLst/>
                <a:latin typeface="Consolas" panose="020B0609020204030204" pitchFamily="49" charset="0"/>
              </a:rPr>
              <a:t>in</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x</a:t>
            </a:r>
            <a:r>
              <a:rPr lang="en-IN" b="0">
                <a:solidFill>
                  <a:srgbClr val="CCCCCC"/>
                </a:solidFill>
                <a:effectLst/>
                <a:latin typeface="Consolas" panose="020B0609020204030204" pitchFamily="49" charset="0"/>
              </a:rPr>
              <a:t>:</a:t>
            </a:r>
          </a:p>
          <a:p>
            <a:pPr>
              <a:lnSpc>
                <a:spcPts val="1425"/>
              </a:lnSpc>
              <a:buNone/>
            </a:pP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data</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569CD6"/>
                </a:solidFill>
                <a:effectLst/>
                <a:latin typeface="Consolas" panose="020B0609020204030204" pitchFamily="49" charset="0"/>
              </a:rPr>
              <a:t>f</a:t>
            </a:r>
            <a:r>
              <a:rPr lang="en-IN" b="0">
                <a:solidFill>
                  <a:srgbClr val="CE9178"/>
                </a:solidFill>
                <a:effectLst/>
                <a:latin typeface="Consolas" panose="020B0609020204030204" pitchFamily="49" charset="0"/>
              </a:rPr>
              <a:t>"</a:t>
            </a:r>
            <a:r>
              <a:rPr lang="en-IN" b="0">
                <a:solidFill>
                  <a:srgbClr val="569CD6"/>
                </a:solidFill>
                <a:effectLst/>
                <a:latin typeface="Consolas" panose="020B0609020204030204" pitchFamily="49" charset="0"/>
              </a:rPr>
              <a:t>{</a:t>
            </a:r>
            <a:r>
              <a:rPr lang="en-IN" b="0">
                <a:solidFill>
                  <a:srgbClr val="9CDCFE"/>
                </a:solidFill>
                <a:effectLst/>
                <a:latin typeface="Consolas" panose="020B0609020204030204" pitchFamily="49" charset="0"/>
              </a:rPr>
              <a:t>x_1d</a:t>
            </a:r>
            <a:r>
              <a:rPr lang="en-IN" b="0">
                <a:solidFill>
                  <a:srgbClr val="CCCCCC"/>
                </a:solidFill>
                <a:effectLst/>
                <a:latin typeface="Consolas" panose="020B0609020204030204" pitchFamily="49" charset="0"/>
              </a:rPr>
              <a:t>[</a:t>
            </a:r>
            <a:r>
              <a:rPr lang="en-IN" b="0">
                <a:solidFill>
                  <a:srgbClr val="B5CEA8"/>
                </a:solidFill>
                <a:effectLst/>
                <a:latin typeface="Consolas" panose="020B0609020204030204" pitchFamily="49" charset="0"/>
              </a:rPr>
              <a:t>0</a:t>
            </a:r>
            <a:r>
              <a:rPr lang="en-IN" b="0">
                <a:solidFill>
                  <a:srgbClr val="CCCCCC"/>
                </a:solidFill>
                <a:effectLst/>
                <a:latin typeface="Consolas" panose="020B0609020204030204" pitchFamily="49" charset="0"/>
              </a:rPr>
              <a:t>]</a:t>
            </a:r>
            <a:r>
              <a:rPr lang="en-IN" b="0">
                <a:solidFill>
                  <a:srgbClr val="569CD6"/>
                </a:solidFill>
                <a:effectLst/>
                <a:latin typeface="Consolas" panose="020B0609020204030204" pitchFamily="49" charset="0"/>
              </a:rPr>
              <a:t>}</a:t>
            </a:r>
            <a:r>
              <a:rPr lang="en-IN" b="0">
                <a:solidFill>
                  <a:srgbClr val="CE9178"/>
                </a:solidFill>
                <a:effectLst/>
                <a:latin typeface="Consolas" panose="020B0609020204030204" pitchFamily="49" charset="0"/>
              </a:rPr>
              <a:t>,</a:t>
            </a:r>
            <a:r>
              <a:rPr lang="en-IN" b="0">
                <a:solidFill>
                  <a:srgbClr val="569CD6"/>
                </a:solidFill>
                <a:effectLst/>
                <a:latin typeface="Consolas" panose="020B0609020204030204" pitchFamily="49" charset="0"/>
              </a:rPr>
              <a:t>{</a:t>
            </a:r>
            <a:r>
              <a:rPr lang="en-IN" b="0">
                <a:solidFill>
                  <a:srgbClr val="9CDCFE"/>
                </a:solidFill>
                <a:effectLst/>
                <a:latin typeface="Consolas" panose="020B0609020204030204" pitchFamily="49" charset="0"/>
              </a:rPr>
              <a:t>x_1d</a:t>
            </a:r>
            <a:r>
              <a:rPr lang="en-IN" b="0">
                <a:solidFill>
                  <a:srgbClr val="CCCCCC"/>
                </a:solidFill>
                <a:effectLst/>
                <a:latin typeface="Consolas" panose="020B0609020204030204" pitchFamily="49" charset="0"/>
              </a:rPr>
              <a:t>[</a:t>
            </a:r>
            <a:r>
              <a:rPr lang="en-IN" b="0">
                <a:solidFill>
                  <a:srgbClr val="B5CEA8"/>
                </a:solidFill>
                <a:effectLst/>
                <a:latin typeface="Consolas" panose="020B0609020204030204" pitchFamily="49" charset="0"/>
              </a:rPr>
              <a:t>1</a:t>
            </a:r>
            <a:r>
              <a:rPr lang="en-IN" b="0">
                <a:solidFill>
                  <a:srgbClr val="CCCCCC"/>
                </a:solidFill>
                <a:effectLst/>
                <a:latin typeface="Consolas" panose="020B0609020204030204" pitchFamily="49" charset="0"/>
              </a:rPr>
              <a:t>]</a:t>
            </a:r>
            <a:r>
              <a:rPr lang="en-IN" b="0">
                <a:solidFill>
                  <a:srgbClr val="569CD6"/>
                </a:solidFill>
                <a:effectLst/>
                <a:latin typeface="Consolas" panose="020B0609020204030204" pitchFamily="49" charset="0"/>
              </a:rPr>
              <a:t>}</a:t>
            </a:r>
            <a:r>
              <a:rPr lang="en-IN" b="0">
                <a:solidFill>
                  <a:srgbClr val="CE9178"/>
                </a:solidFill>
                <a:effectLst/>
                <a:latin typeface="Consolas" panose="020B0609020204030204" pitchFamily="49" charset="0"/>
              </a:rPr>
              <a:t>,</a:t>
            </a:r>
            <a:r>
              <a:rPr lang="en-IN" b="0">
                <a:solidFill>
                  <a:srgbClr val="569CD6"/>
                </a:solidFill>
                <a:effectLst/>
                <a:latin typeface="Consolas" panose="020B0609020204030204" pitchFamily="49" charset="0"/>
              </a:rPr>
              <a:t>{</a:t>
            </a:r>
            <a:r>
              <a:rPr lang="en-IN" b="0">
                <a:solidFill>
                  <a:srgbClr val="9CDCFE"/>
                </a:solidFill>
                <a:effectLst/>
                <a:latin typeface="Consolas" panose="020B0609020204030204" pitchFamily="49" charset="0"/>
              </a:rPr>
              <a:t>x_1d</a:t>
            </a:r>
            <a:r>
              <a:rPr lang="en-IN" b="0">
                <a:solidFill>
                  <a:srgbClr val="CCCCCC"/>
                </a:solidFill>
                <a:effectLst/>
                <a:latin typeface="Consolas" panose="020B0609020204030204" pitchFamily="49" charset="0"/>
              </a:rPr>
              <a:t>[</a:t>
            </a:r>
            <a:r>
              <a:rPr lang="en-IN" b="0">
                <a:solidFill>
                  <a:srgbClr val="B5CEA8"/>
                </a:solidFill>
                <a:effectLst/>
                <a:latin typeface="Consolas" panose="020B0609020204030204" pitchFamily="49" charset="0"/>
              </a:rPr>
              <a:t>2</a:t>
            </a:r>
            <a:r>
              <a:rPr lang="en-IN" b="0">
                <a:solidFill>
                  <a:srgbClr val="CCCCCC"/>
                </a:solidFill>
                <a:effectLst/>
                <a:latin typeface="Consolas" panose="020B0609020204030204" pitchFamily="49" charset="0"/>
              </a:rPr>
              <a:t>]</a:t>
            </a:r>
            <a:r>
              <a:rPr lang="en-IN" b="0">
                <a:solidFill>
                  <a:srgbClr val="569CD6"/>
                </a:solidFill>
                <a:effectLst/>
                <a:latin typeface="Consolas" panose="020B0609020204030204" pitchFamily="49" charset="0"/>
              </a:rPr>
              <a:t>}</a:t>
            </a:r>
            <a:r>
              <a:rPr lang="en-IN" b="0">
                <a:solidFill>
                  <a:srgbClr val="D7BA7D"/>
                </a:solidFill>
                <a:effectLst/>
                <a:latin typeface="Consolas" panose="020B0609020204030204" pitchFamily="49" charset="0"/>
              </a:rPr>
              <a:t>\n</a:t>
            </a:r>
            <a:r>
              <a:rPr lang="en-IN" b="0">
                <a:solidFill>
                  <a:srgbClr val="CE9178"/>
                </a:solidFill>
                <a:effectLst/>
                <a:latin typeface="Consolas" panose="020B0609020204030204" pitchFamily="49" charset="0"/>
              </a:rPr>
              <a:t>"</a:t>
            </a:r>
            <a:endParaRPr lang="en-IN" b="0">
              <a:solidFill>
                <a:srgbClr val="CCCCCC"/>
              </a:solidFill>
              <a:effectLst/>
              <a:latin typeface="Consolas" panose="020B0609020204030204" pitchFamily="49" charset="0"/>
            </a:endParaRPr>
          </a:p>
          <a:p>
            <a:pPr>
              <a:lnSpc>
                <a:spcPts val="1425"/>
              </a:lnSpc>
              <a:buNone/>
            </a:pPr>
            <a:r>
              <a:rPr lang="en-IN" b="0">
                <a:solidFill>
                  <a:srgbClr val="CCCCCC"/>
                </a:solidFill>
                <a:effectLst/>
                <a:latin typeface="Consolas" panose="020B0609020204030204" pitchFamily="49" charset="0"/>
              </a:rPr>
              <a:t>    </a:t>
            </a:r>
            <a:r>
              <a:rPr lang="en-IN" b="0">
                <a:solidFill>
                  <a:srgbClr val="DCDCAA"/>
                </a:solidFill>
                <a:effectLst/>
                <a:latin typeface="Consolas" panose="020B0609020204030204" pitchFamily="49" charset="0"/>
              </a:rPr>
              <a:t>print</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"Sending data : "</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data</a:t>
            </a:r>
            <a:r>
              <a:rPr lang="en-IN" b="0">
                <a:solidFill>
                  <a:srgbClr val="CCCCCC"/>
                </a:solidFill>
                <a:effectLst/>
                <a:latin typeface="Consolas" panose="020B0609020204030204" pitchFamily="49" charset="0"/>
              </a:rPr>
              <a:t>)</a:t>
            </a:r>
          </a:p>
          <a:p>
            <a:pPr>
              <a:lnSpc>
                <a:spcPts val="1425"/>
              </a:lnSpc>
              <a:buNone/>
            </a:pP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ser</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write</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data</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encode</a:t>
            </a:r>
            <a:r>
              <a:rPr lang="en-IN" b="0">
                <a:solidFill>
                  <a:srgbClr val="CCCCCC"/>
                </a:solidFill>
                <a:effectLst/>
                <a:latin typeface="Consolas" panose="020B0609020204030204" pitchFamily="49" charset="0"/>
              </a:rPr>
              <a:t>())</a:t>
            </a:r>
          </a:p>
          <a:p>
            <a:pPr>
              <a:lnSpc>
                <a:spcPts val="1425"/>
              </a:lnSpc>
              <a:buNone/>
            </a:pPr>
            <a:br>
              <a:rPr lang="en-IN" b="0">
                <a:solidFill>
                  <a:srgbClr val="CCCCCC"/>
                </a:solidFill>
                <a:effectLst/>
                <a:latin typeface="Consolas" panose="020B0609020204030204" pitchFamily="49" charset="0"/>
              </a:rPr>
            </a:br>
            <a:r>
              <a:rPr lang="en-IN" b="0">
                <a:solidFill>
                  <a:srgbClr val="CCCCCC"/>
                </a:solidFill>
                <a:effectLst/>
                <a:latin typeface="Consolas" panose="020B0609020204030204" pitchFamily="49" charset="0"/>
              </a:rPr>
              <a:t>    </a:t>
            </a:r>
            <a:r>
              <a:rPr lang="en-IN" b="0">
                <a:solidFill>
                  <a:srgbClr val="C586C0"/>
                </a:solidFill>
                <a:effectLst/>
                <a:latin typeface="Consolas" panose="020B0609020204030204" pitchFamily="49" charset="0"/>
              </a:rPr>
              <a:t>while</a:t>
            </a:r>
            <a:r>
              <a:rPr lang="en-IN" b="0">
                <a:solidFill>
                  <a:srgbClr val="CCCCCC"/>
                </a:solidFill>
                <a:effectLst/>
                <a:latin typeface="Consolas" panose="020B0609020204030204" pitchFamily="49" charset="0"/>
              </a:rPr>
              <a:t> </a:t>
            </a:r>
            <a:r>
              <a:rPr lang="en-IN" b="0">
                <a:solidFill>
                  <a:srgbClr val="569CD6"/>
                </a:solidFill>
                <a:effectLst/>
                <a:latin typeface="Consolas" panose="020B0609020204030204" pitchFamily="49" charset="0"/>
              </a:rPr>
              <a:t>not</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ser</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in_waiting</a:t>
            </a:r>
            <a:r>
              <a:rPr lang="en-IN" b="0">
                <a:solidFill>
                  <a:srgbClr val="CCCCCC"/>
                </a:solidFill>
                <a:effectLst/>
                <a:latin typeface="Consolas" panose="020B0609020204030204" pitchFamily="49" charset="0"/>
              </a:rPr>
              <a:t>:</a:t>
            </a:r>
          </a:p>
          <a:p>
            <a:pPr>
              <a:lnSpc>
                <a:spcPts val="1425"/>
              </a:lnSpc>
              <a:buNone/>
            </a:pPr>
            <a:r>
              <a:rPr lang="en-IN" b="0">
                <a:solidFill>
                  <a:srgbClr val="CCCCCC"/>
                </a:solidFill>
                <a:effectLst/>
                <a:latin typeface="Consolas" panose="020B0609020204030204" pitchFamily="49" charset="0"/>
              </a:rPr>
              <a:t>        </a:t>
            </a:r>
            <a:r>
              <a:rPr lang="en-IN" b="0">
                <a:solidFill>
                  <a:srgbClr val="C586C0"/>
                </a:solidFill>
                <a:effectLst/>
                <a:latin typeface="Consolas" panose="020B0609020204030204" pitchFamily="49" charset="0"/>
              </a:rPr>
              <a:t>pass</a:t>
            </a:r>
            <a:endParaRPr lang="en-IN" b="0">
              <a:solidFill>
                <a:srgbClr val="CCCCCC"/>
              </a:solidFill>
              <a:effectLst/>
              <a:latin typeface="Consolas" panose="020B0609020204030204" pitchFamily="49" charset="0"/>
            </a:endParaRPr>
          </a:p>
          <a:p>
            <a:pPr>
              <a:lnSpc>
                <a:spcPts val="1425"/>
              </a:lnSpc>
              <a:buNone/>
            </a:pPr>
            <a:r>
              <a:rPr lang="en-IN" b="0">
                <a:solidFill>
                  <a:srgbClr val="CCCCCC"/>
                </a:solidFill>
                <a:effectLst/>
                <a:latin typeface="Consolas" panose="020B0609020204030204" pitchFamily="49" charset="0"/>
              </a:rPr>
              <a:t>    </a:t>
            </a:r>
            <a:r>
              <a:rPr lang="en-IN" b="0">
                <a:solidFill>
                  <a:srgbClr val="C586C0"/>
                </a:solidFill>
                <a:effectLst/>
                <a:latin typeface="Consolas" panose="020B0609020204030204" pitchFamily="49" charset="0"/>
              </a:rPr>
              <a:t>if</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ser</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in_waiting</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&gt;</a:t>
            </a:r>
            <a:r>
              <a:rPr lang="en-IN" b="0">
                <a:solidFill>
                  <a:srgbClr val="CCCCCC"/>
                </a:solidFill>
                <a:effectLst/>
                <a:latin typeface="Consolas" panose="020B0609020204030204" pitchFamily="49" charset="0"/>
              </a:rPr>
              <a:t> </a:t>
            </a:r>
            <a:r>
              <a:rPr lang="en-IN" b="0">
                <a:solidFill>
                  <a:srgbClr val="B5CEA8"/>
                </a:solidFill>
                <a:effectLst/>
                <a:latin typeface="Consolas" panose="020B0609020204030204" pitchFamily="49" charset="0"/>
              </a:rPr>
              <a:t>0</a:t>
            </a:r>
            <a:r>
              <a:rPr lang="en-IN" b="0">
                <a:solidFill>
                  <a:srgbClr val="CCCCCC"/>
                </a:solidFill>
                <a:effectLst/>
                <a:latin typeface="Consolas" panose="020B0609020204030204" pitchFamily="49" charset="0"/>
              </a:rPr>
              <a:t>:</a:t>
            </a:r>
          </a:p>
          <a:p>
            <a:pPr>
              <a:lnSpc>
                <a:spcPts val="1425"/>
              </a:lnSpc>
              <a:buNone/>
            </a:pP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response</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ser</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readline</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decode</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'utf-8'</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strip</a:t>
            </a:r>
            <a:r>
              <a:rPr lang="en-IN" b="0">
                <a:solidFill>
                  <a:srgbClr val="CCCCCC"/>
                </a:solidFill>
                <a:effectLst/>
                <a:latin typeface="Consolas" panose="020B0609020204030204" pitchFamily="49" charset="0"/>
              </a:rPr>
              <a:t>()</a:t>
            </a:r>
          </a:p>
          <a:p>
            <a:pPr>
              <a:lnSpc>
                <a:spcPts val="1425"/>
              </a:lnSpc>
              <a:buNone/>
            </a:pP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outputs</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float</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resp</a:t>
            </a:r>
            <a:r>
              <a:rPr lang="en-IN" b="0">
                <a:solidFill>
                  <a:srgbClr val="CCCCCC"/>
                </a:solidFill>
                <a:effectLst/>
                <a:latin typeface="Consolas" panose="020B0609020204030204" pitchFamily="49" charset="0"/>
              </a:rPr>
              <a:t>) </a:t>
            </a:r>
            <a:r>
              <a:rPr lang="en-IN" b="0">
                <a:solidFill>
                  <a:srgbClr val="C586C0"/>
                </a:solidFill>
                <a:effectLst/>
                <a:latin typeface="Consolas" panose="020B0609020204030204" pitchFamily="49" charset="0"/>
              </a:rPr>
              <a:t>for</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resp</a:t>
            </a:r>
            <a:r>
              <a:rPr lang="en-IN" b="0">
                <a:solidFill>
                  <a:srgbClr val="CCCCCC"/>
                </a:solidFill>
                <a:effectLst/>
                <a:latin typeface="Consolas" panose="020B0609020204030204" pitchFamily="49" charset="0"/>
              </a:rPr>
              <a:t> </a:t>
            </a:r>
            <a:r>
              <a:rPr lang="en-IN" b="0">
                <a:solidFill>
                  <a:srgbClr val="C586C0"/>
                </a:solidFill>
                <a:effectLst/>
                <a:latin typeface="Consolas" panose="020B0609020204030204" pitchFamily="49" charset="0"/>
              </a:rPr>
              <a:t>in</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response</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split</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a:t>
            </a:r>
            <a:r>
              <a:rPr lang="en-IN" b="0">
                <a:solidFill>
                  <a:srgbClr val="CCCCCC"/>
                </a:solidFill>
                <a:effectLst/>
                <a:latin typeface="Consolas" panose="020B0609020204030204" pitchFamily="49" charset="0"/>
              </a:rPr>
              <a:t>)]</a:t>
            </a:r>
          </a:p>
          <a:p>
            <a:pPr>
              <a:lnSpc>
                <a:spcPts val="1425"/>
              </a:lnSpc>
              <a:buNone/>
            </a:pPr>
            <a:r>
              <a:rPr lang="en-IN" b="0">
                <a:solidFill>
                  <a:srgbClr val="CCCCCC"/>
                </a:solidFill>
                <a:effectLst/>
                <a:latin typeface="Consolas" panose="020B0609020204030204" pitchFamily="49" charset="0"/>
              </a:rPr>
              <a:t>        </a:t>
            </a:r>
            <a:r>
              <a:rPr lang="en-IN" b="0">
                <a:solidFill>
                  <a:srgbClr val="4FC1FF"/>
                </a:solidFill>
                <a:effectLst/>
                <a:latin typeface="Consolas" panose="020B0609020204030204" pitchFamily="49" charset="0"/>
              </a:rPr>
              <a:t>Y</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append</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outputs</a:t>
            </a:r>
            <a:r>
              <a:rPr lang="en-IN" b="0">
                <a:solidFill>
                  <a:srgbClr val="CCCCCC"/>
                </a:solidFill>
                <a:effectLst/>
                <a:latin typeface="Consolas" panose="020B0609020204030204" pitchFamily="49" charset="0"/>
              </a:rPr>
              <a:t>)</a:t>
            </a:r>
          </a:p>
          <a:p>
            <a:pPr>
              <a:lnSpc>
                <a:spcPts val="1425"/>
              </a:lnSpc>
              <a:buNone/>
            </a:pPr>
            <a:r>
              <a:rPr lang="en-IN" b="0">
                <a:solidFill>
                  <a:srgbClr val="CCCCCC"/>
                </a:solidFill>
                <a:effectLst/>
                <a:latin typeface="Consolas" panose="020B0609020204030204" pitchFamily="49" charset="0"/>
              </a:rPr>
              <a:t>        </a:t>
            </a:r>
            <a:r>
              <a:rPr lang="en-IN" b="0">
                <a:solidFill>
                  <a:srgbClr val="6A9955"/>
                </a:solidFill>
                <a:effectLst/>
                <a:latin typeface="Consolas" panose="020B0609020204030204" pitchFamily="49" charset="0"/>
              </a:rPr>
              <a:t># print(outputs)</a:t>
            </a:r>
            <a:endParaRPr lang="en-IN" b="0">
              <a:solidFill>
                <a:srgbClr val="CCCCCC"/>
              </a:solidFill>
              <a:effectLst/>
              <a:latin typeface="Consolas" panose="020B0609020204030204" pitchFamily="49" charset="0"/>
            </a:endParaRPr>
          </a:p>
          <a:p>
            <a:pPr>
              <a:lnSpc>
                <a:spcPts val="1425"/>
              </a:lnSpc>
              <a:buNone/>
            </a:pPr>
            <a:r>
              <a:rPr lang="en-IN" b="0">
                <a:solidFill>
                  <a:srgbClr val="CCCCCC"/>
                </a:solidFill>
                <a:effectLst/>
                <a:latin typeface="Consolas" panose="020B0609020204030204" pitchFamily="49" charset="0"/>
              </a:rPr>
              <a:t>        </a:t>
            </a:r>
            <a:r>
              <a:rPr lang="en-IN" b="0">
                <a:solidFill>
                  <a:srgbClr val="6A9955"/>
                </a:solidFill>
                <a:effectLst/>
                <a:latin typeface="Consolas" panose="020B0609020204030204" pitchFamily="49" charset="0"/>
              </a:rPr>
              <a:t># print(y[i])</a:t>
            </a:r>
            <a:endParaRPr lang="en-IN" b="0">
              <a:solidFill>
                <a:srgbClr val="CCCCCC"/>
              </a:solidFill>
              <a:effectLst/>
              <a:latin typeface="Consolas" panose="020B0609020204030204" pitchFamily="49" charset="0"/>
            </a:endParaRPr>
          </a:p>
          <a:p>
            <a:pPr>
              <a:lnSpc>
                <a:spcPts val="1425"/>
              </a:lnSpc>
              <a:buNone/>
            </a:pP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i</a:t>
            </a:r>
            <a:r>
              <a:rPr lang="en-IN" b="0">
                <a:solidFill>
                  <a:srgbClr val="D4D4D4"/>
                </a:solidFill>
                <a:effectLst/>
                <a:latin typeface="Consolas" panose="020B0609020204030204" pitchFamily="49" charset="0"/>
              </a:rPr>
              <a:t>+=</a:t>
            </a:r>
            <a:r>
              <a:rPr lang="en-IN" b="0">
                <a:solidFill>
                  <a:srgbClr val="B5CEA8"/>
                </a:solidFill>
                <a:effectLst/>
                <a:latin typeface="Consolas" panose="020B0609020204030204" pitchFamily="49" charset="0"/>
              </a:rPr>
              <a:t>1</a:t>
            </a:r>
            <a:endParaRPr lang="en-IN" b="0">
              <a:solidFill>
                <a:srgbClr val="CCCCCC"/>
              </a:solidFill>
              <a:effectLst/>
              <a:latin typeface="Consolas" panose="020B0609020204030204" pitchFamily="49" charset="0"/>
            </a:endParaRPr>
          </a:p>
          <a:p>
            <a:pPr>
              <a:lnSpc>
                <a:spcPts val="1425"/>
              </a:lnSpc>
              <a:buNone/>
            </a:pPr>
            <a:r>
              <a:rPr lang="en-IN" b="0">
                <a:solidFill>
                  <a:srgbClr val="CCCCCC"/>
                </a:solidFill>
                <a:effectLst/>
                <a:latin typeface="Consolas" panose="020B0609020204030204" pitchFamily="49" charset="0"/>
              </a:rPr>
              <a:t>        </a:t>
            </a:r>
          </a:p>
          <a:p>
            <a:pPr>
              <a:lnSpc>
                <a:spcPts val="1425"/>
              </a:lnSpc>
              <a:buNone/>
            </a:pPr>
            <a:r>
              <a:rPr lang="en-IN" b="0">
                <a:solidFill>
                  <a:srgbClr val="CCCCCC"/>
                </a:solidFill>
                <a:effectLst/>
                <a:latin typeface="Consolas" panose="020B0609020204030204" pitchFamily="49" charset="0"/>
              </a:rPr>
              <a:t>    </a:t>
            </a:r>
          </a:p>
          <a:p>
            <a:pPr>
              <a:lnSpc>
                <a:spcPts val="1425"/>
              </a:lnSpc>
              <a:buNone/>
            </a:pP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time</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sleep</a:t>
            </a:r>
            <a:r>
              <a:rPr lang="en-IN" b="0">
                <a:solidFill>
                  <a:srgbClr val="CCCCCC"/>
                </a:solidFill>
                <a:effectLst/>
                <a:latin typeface="Consolas" panose="020B0609020204030204" pitchFamily="49" charset="0"/>
              </a:rPr>
              <a:t>(</a:t>
            </a:r>
            <a:r>
              <a:rPr lang="en-IN" b="0">
                <a:solidFill>
                  <a:srgbClr val="B5CEA8"/>
                </a:solidFill>
                <a:effectLst/>
                <a:latin typeface="Consolas" panose="020B0609020204030204" pitchFamily="49" charset="0"/>
              </a:rPr>
              <a:t>0.015</a:t>
            </a:r>
            <a:r>
              <a:rPr lang="en-IN" b="0">
                <a:solidFill>
                  <a:srgbClr val="CCCCCC"/>
                </a:solidFill>
                <a:effectLst/>
                <a:latin typeface="Consolas" panose="020B0609020204030204" pitchFamily="49" charset="0"/>
              </a:rPr>
              <a:t>)</a:t>
            </a:r>
          </a:p>
          <a:p>
            <a:pPr>
              <a:lnSpc>
                <a:spcPts val="1425"/>
              </a:lnSpc>
              <a:buNone/>
            </a:pPr>
            <a:br>
              <a:rPr lang="en-IN" b="0">
                <a:solidFill>
                  <a:srgbClr val="CCCCCC"/>
                </a:solidFill>
                <a:effectLst/>
                <a:latin typeface="Consolas" panose="020B0609020204030204" pitchFamily="49" charset="0"/>
              </a:rPr>
            </a:br>
            <a:r>
              <a:rPr lang="en-IN" b="0">
                <a:solidFill>
                  <a:srgbClr val="9CDCFE"/>
                </a:solidFill>
                <a:effectLst/>
                <a:latin typeface="Consolas" panose="020B0609020204030204" pitchFamily="49" charset="0"/>
              </a:rPr>
              <a:t>original_values</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y</a:t>
            </a:r>
            <a:endParaRPr lang="en-IN" b="0">
              <a:solidFill>
                <a:srgbClr val="CCCCCC"/>
              </a:solidFill>
              <a:effectLst/>
              <a:latin typeface="Consolas" panose="020B0609020204030204" pitchFamily="49" charset="0"/>
            </a:endParaRPr>
          </a:p>
          <a:p>
            <a:pPr>
              <a:lnSpc>
                <a:spcPts val="1425"/>
              </a:lnSpc>
              <a:buNone/>
            </a:pPr>
            <a:r>
              <a:rPr lang="en-IN" b="0">
                <a:solidFill>
                  <a:srgbClr val="9CDCFE"/>
                </a:solidFill>
                <a:effectLst/>
                <a:latin typeface="Consolas" panose="020B0609020204030204" pitchFamily="49" charset="0"/>
              </a:rPr>
              <a:t>network_output</a:t>
            </a:r>
            <a:r>
              <a:rPr lang="en-IN" b="0">
                <a:solidFill>
                  <a:srgbClr val="CCCCCC"/>
                </a:solidFill>
                <a:effectLst/>
                <a:latin typeface="Consolas" panose="020B0609020204030204" pitchFamily="49" charset="0"/>
              </a:rPr>
              <a:t> </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 (</a:t>
            </a:r>
            <a:r>
              <a:rPr lang="en-IN" b="0">
                <a:solidFill>
                  <a:srgbClr val="4EC9B0"/>
                </a:solidFill>
                <a:effectLst/>
                <a:latin typeface="Consolas" panose="020B0609020204030204" pitchFamily="49" charset="0"/>
              </a:rPr>
              <a:t>np</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array</a:t>
            </a:r>
            <a:r>
              <a:rPr lang="en-IN" b="0">
                <a:solidFill>
                  <a:srgbClr val="CCCCCC"/>
                </a:solidFill>
                <a:effectLst/>
                <a:latin typeface="Consolas" panose="020B0609020204030204" pitchFamily="49" charset="0"/>
              </a:rPr>
              <a:t>(</a:t>
            </a:r>
            <a:r>
              <a:rPr lang="en-IN" b="0">
                <a:solidFill>
                  <a:srgbClr val="4FC1FF"/>
                </a:solidFill>
                <a:effectLst/>
                <a:latin typeface="Consolas" panose="020B0609020204030204" pitchFamily="49" charset="0"/>
              </a:rPr>
              <a:t>Y</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a:t>
            </a:r>
            <a:r>
              <a:rPr lang="en-IN" b="0">
                <a:solidFill>
                  <a:srgbClr val="9CDCFE"/>
                </a:solidFill>
                <a:effectLst/>
                <a:latin typeface="Consolas" panose="020B0609020204030204" pitchFamily="49" charset="0"/>
              </a:rPr>
              <a:t>y_std</a:t>
            </a:r>
            <a:r>
              <a:rPr lang="en-IN" b="0">
                <a:solidFill>
                  <a:srgbClr val="CCCCCC"/>
                </a:solidFill>
                <a:effectLst/>
                <a:latin typeface="Consolas" panose="020B0609020204030204" pitchFamily="49" charset="0"/>
              </a:rPr>
              <a:t>)</a:t>
            </a:r>
            <a:r>
              <a:rPr lang="en-IN" b="0">
                <a:solidFill>
                  <a:srgbClr val="D4D4D4"/>
                </a:solidFill>
                <a:effectLst/>
                <a:latin typeface="Consolas" panose="020B0609020204030204" pitchFamily="49" charset="0"/>
              </a:rPr>
              <a:t>+</a:t>
            </a:r>
            <a:r>
              <a:rPr lang="en-IN" b="0">
                <a:solidFill>
                  <a:srgbClr val="9CDCFE"/>
                </a:solidFill>
                <a:effectLst/>
                <a:latin typeface="Consolas" panose="020B0609020204030204" pitchFamily="49" charset="0"/>
              </a:rPr>
              <a:t>y_mean</a:t>
            </a:r>
            <a:endParaRPr lang="en-IN" b="0">
              <a:solidFill>
                <a:srgbClr val="CCCCCC"/>
              </a:solidFill>
              <a:effectLst/>
              <a:latin typeface="Consolas" panose="020B0609020204030204" pitchFamily="49" charset="0"/>
            </a:endParaRPr>
          </a:p>
          <a:p>
            <a:pPr>
              <a:lnSpc>
                <a:spcPts val="1425"/>
              </a:lnSpc>
            </a:pPr>
            <a:br>
              <a:rPr lang="en-IN" b="0">
                <a:solidFill>
                  <a:srgbClr val="CCCCCC"/>
                </a:solidFill>
                <a:effectLst/>
                <a:latin typeface="Consolas" panose="020B0609020204030204" pitchFamily="49" charset="0"/>
              </a:rPr>
            </a:br>
            <a:r>
              <a:rPr lang="en-IN" b="0">
                <a:solidFill>
                  <a:srgbClr val="9CDCFE"/>
                </a:solidFill>
                <a:effectLst/>
                <a:latin typeface="Consolas" panose="020B0609020204030204" pitchFamily="49" charset="0"/>
              </a:rPr>
              <a:t>ser</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close</a:t>
            </a:r>
            <a:r>
              <a:rPr lang="en-IN" b="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25684110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31B40B-1C54-6920-D325-E40650C87641}"/>
              </a:ext>
            </a:extLst>
          </p:cNvPr>
          <p:cNvSpPr>
            <a:spLocks noGrp="1"/>
          </p:cNvSpPr>
          <p:nvPr>
            <p:ph type="title"/>
          </p:nvPr>
        </p:nvSpPr>
        <p:spPr/>
        <p:txBody>
          <a:bodyPr/>
          <a:lstStyle/>
          <a:p>
            <a:r>
              <a:rPr lang="en-US" dirty="0"/>
              <a:t>Demonstration and result</a:t>
            </a:r>
            <a:endParaRPr lang="en-IN" dirty="0"/>
          </a:p>
        </p:txBody>
      </p:sp>
      <p:sp>
        <p:nvSpPr>
          <p:cNvPr id="3" name="TextBox 2">
            <a:extLst>
              <a:ext uri="{FF2B5EF4-FFF2-40B4-BE49-F238E27FC236}">
                <a16:creationId xmlns:a16="http://schemas.microsoft.com/office/drawing/2014/main" id="{091C6C8E-AD48-1171-CF8D-90362C1E41C3}"/>
              </a:ext>
            </a:extLst>
          </p:cNvPr>
          <p:cNvSpPr txBox="1"/>
          <p:nvPr/>
        </p:nvSpPr>
        <p:spPr>
          <a:xfrm>
            <a:off x="1346566" y="3271198"/>
            <a:ext cx="9495692" cy="1722651"/>
          </a:xfrm>
          <a:prstGeom prst="rect">
            <a:avLst/>
          </a:prstGeom>
          <a:solidFill>
            <a:schemeClr val="bg1">
              <a:lumMod val="95000"/>
              <a:lumOff val="5000"/>
            </a:schemeClr>
          </a:solidFill>
        </p:spPr>
        <p:txBody>
          <a:bodyPr wrap="square" rtlCol="0">
            <a:spAutoFit/>
          </a:bodyPr>
          <a:lstStyle/>
          <a:p>
            <a:pPr>
              <a:lnSpc>
                <a:spcPts val="1425"/>
              </a:lnSpc>
              <a:buNone/>
            </a:pPr>
            <a:r>
              <a:rPr lang="en-IN" b="0">
                <a:solidFill>
                  <a:srgbClr val="4EC9B0"/>
                </a:solidFill>
                <a:effectLst/>
                <a:latin typeface="Consolas" panose="020B0609020204030204" pitchFamily="49" charset="0"/>
              </a:rPr>
              <a:t>plt</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figure</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figsize</a:t>
            </a:r>
            <a:r>
              <a:rPr lang="en-IN" b="0">
                <a:solidFill>
                  <a:srgbClr val="D4D4D4"/>
                </a:solidFill>
                <a:effectLst/>
                <a:latin typeface="Consolas" panose="020B0609020204030204" pitchFamily="49" charset="0"/>
              </a:rPr>
              <a:t>=</a:t>
            </a:r>
            <a:r>
              <a:rPr lang="en-IN" b="0">
                <a:solidFill>
                  <a:srgbClr val="CCCCCC"/>
                </a:solidFill>
                <a:effectLst/>
                <a:latin typeface="Consolas" panose="020B0609020204030204" pitchFamily="49" charset="0"/>
              </a:rPr>
              <a:t>(</a:t>
            </a:r>
            <a:r>
              <a:rPr lang="en-IN" b="0">
                <a:solidFill>
                  <a:srgbClr val="B5CEA8"/>
                </a:solidFill>
                <a:effectLst/>
                <a:latin typeface="Consolas" panose="020B0609020204030204" pitchFamily="49" charset="0"/>
              </a:rPr>
              <a:t>8</a:t>
            </a:r>
            <a:r>
              <a:rPr lang="en-IN" b="0">
                <a:solidFill>
                  <a:srgbClr val="CCCCCC"/>
                </a:solidFill>
                <a:effectLst/>
                <a:latin typeface="Consolas" panose="020B0609020204030204" pitchFamily="49" charset="0"/>
              </a:rPr>
              <a:t>, </a:t>
            </a:r>
            <a:r>
              <a:rPr lang="en-IN" b="0">
                <a:solidFill>
                  <a:srgbClr val="B5CEA8"/>
                </a:solidFill>
                <a:effectLst/>
                <a:latin typeface="Consolas" panose="020B0609020204030204" pitchFamily="49" charset="0"/>
              </a:rPr>
              <a:t>5</a:t>
            </a:r>
            <a:r>
              <a:rPr lang="en-IN" b="0">
                <a:solidFill>
                  <a:srgbClr val="CCCCCC"/>
                </a:solidFill>
                <a:effectLst/>
                <a:latin typeface="Consolas" panose="020B0609020204030204" pitchFamily="49" charset="0"/>
              </a:rPr>
              <a:t>))</a:t>
            </a:r>
          </a:p>
          <a:p>
            <a:pPr>
              <a:lnSpc>
                <a:spcPts val="1425"/>
              </a:lnSpc>
              <a:buNone/>
            </a:pPr>
            <a:r>
              <a:rPr lang="en-IN" b="0">
                <a:solidFill>
                  <a:srgbClr val="4EC9B0"/>
                </a:solidFill>
                <a:effectLst/>
                <a:latin typeface="Consolas" panose="020B0609020204030204" pitchFamily="49" charset="0"/>
              </a:rPr>
              <a:t>plt</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plot</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original_values</a:t>
            </a:r>
            <a:r>
              <a:rPr lang="en-IN" b="0">
                <a:solidFill>
                  <a:srgbClr val="CCCCCC"/>
                </a:solidFill>
                <a:effectLst/>
                <a:latin typeface="Consolas" panose="020B0609020204030204" pitchFamily="49" charset="0"/>
              </a:rPr>
              <a:t>, </a:t>
            </a:r>
            <a:r>
              <a:rPr lang="en-IN" b="0">
                <a:solidFill>
                  <a:srgbClr val="CE9178"/>
                </a:solidFill>
                <a:effectLst/>
                <a:latin typeface="Consolas" panose="020B0609020204030204" pitchFamily="49" charset="0"/>
              </a:rPr>
              <a:t>'bo-'</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label</a:t>
            </a:r>
            <a:r>
              <a:rPr lang="en-IN" b="0">
                <a:solidFill>
                  <a:srgbClr val="D4D4D4"/>
                </a:solidFill>
                <a:effectLst/>
                <a:latin typeface="Consolas" panose="020B0609020204030204" pitchFamily="49" charset="0"/>
              </a:rPr>
              <a:t>=</a:t>
            </a:r>
            <a:r>
              <a:rPr lang="en-IN" b="0">
                <a:solidFill>
                  <a:srgbClr val="CE9178"/>
                </a:solidFill>
                <a:effectLst/>
                <a:latin typeface="Consolas" panose="020B0609020204030204" pitchFamily="49" charset="0"/>
              </a:rPr>
              <a:t>"Original Values"</a:t>
            </a:r>
            <a:r>
              <a:rPr lang="en-IN" b="0">
                <a:solidFill>
                  <a:srgbClr val="CCCCCC"/>
                </a:solidFill>
                <a:effectLst/>
                <a:latin typeface="Consolas" panose="020B0609020204030204" pitchFamily="49" charset="0"/>
              </a:rPr>
              <a:t>)</a:t>
            </a:r>
          </a:p>
          <a:p>
            <a:pPr>
              <a:lnSpc>
                <a:spcPts val="1425"/>
              </a:lnSpc>
              <a:buNone/>
            </a:pPr>
            <a:r>
              <a:rPr lang="en-IN" b="0">
                <a:solidFill>
                  <a:srgbClr val="4EC9B0"/>
                </a:solidFill>
                <a:effectLst/>
                <a:latin typeface="Consolas" panose="020B0609020204030204" pitchFamily="49" charset="0"/>
              </a:rPr>
              <a:t>plt</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plot</a:t>
            </a:r>
            <a:r>
              <a:rPr lang="en-IN" b="0">
                <a:solidFill>
                  <a:srgbClr val="CCCCCC"/>
                </a:solidFill>
                <a:effectLst/>
                <a:latin typeface="Consolas" panose="020B0609020204030204" pitchFamily="49" charset="0"/>
              </a:rPr>
              <a:t>(</a:t>
            </a:r>
            <a:r>
              <a:rPr lang="en-IN" b="0">
                <a:solidFill>
                  <a:srgbClr val="9CDCFE"/>
                </a:solidFill>
                <a:effectLst/>
                <a:latin typeface="Consolas" panose="020B0609020204030204" pitchFamily="49" charset="0"/>
              </a:rPr>
              <a:t>network_output</a:t>
            </a:r>
            <a:r>
              <a:rPr lang="en-IN" b="0">
                <a:solidFill>
                  <a:srgbClr val="CCCCCC"/>
                </a:solidFill>
                <a:effectLst/>
                <a:latin typeface="Consolas" panose="020B0609020204030204" pitchFamily="49" charset="0"/>
              </a:rPr>
              <a:t>, </a:t>
            </a:r>
            <a:r>
              <a:rPr lang="en-IN" b="0">
                <a:solidFill>
                  <a:srgbClr val="CE9178"/>
                </a:solidFill>
                <a:effectLst/>
                <a:latin typeface="Consolas" panose="020B0609020204030204" pitchFamily="49" charset="0"/>
              </a:rPr>
              <a:t>'r*-'</a:t>
            </a:r>
            <a:r>
              <a:rPr lang="en-IN" b="0">
                <a:solidFill>
                  <a:srgbClr val="CCCCCC"/>
                </a:solidFill>
                <a:effectLst/>
                <a:latin typeface="Consolas" panose="020B0609020204030204" pitchFamily="49" charset="0"/>
              </a:rPr>
              <a:t>, </a:t>
            </a:r>
            <a:r>
              <a:rPr lang="en-IN" b="0">
                <a:solidFill>
                  <a:srgbClr val="9CDCFE"/>
                </a:solidFill>
                <a:effectLst/>
                <a:latin typeface="Consolas" panose="020B0609020204030204" pitchFamily="49" charset="0"/>
              </a:rPr>
              <a:t>label</a:t>
            </a:r>
            <a:r>
              <a:rPr lang="en-IN" b="0">
                <a:solidFill>
                  <a:srgbClr val="D4D4D4"/>
                </a:solidFill>
                <a:effectLst/>
                <a:latin typeface="Consolas" panose="020B0609020204030204" pitchFamily="49" charset="0"/>
              </a:rPr>
              <a:t>=</a:t>
            </a:r>
            <a:r>
              <a:rPr lang="en-IN" b="0">
                <a:solidFill>
                  <a:srgbClr val="CE9178"/>
                </a:solidFill>
                <a:effectLst/>
                <a:latin typeface="Consolas" panose="020B0609020204030204" pitchFamily="49" charset="0"/>
              </a:rPr>
              <a:t>"Predicted Values"</a:t>
            </a:r>
            <a:r>
              <a:rPr lang="en-IN" b="0">
                <a:solidFill>
                  <a:srgbClr val="CCCCCC"/>
                </a:solidFill>
                <a:effectLst/>
                <a:latin typeface="Consolas" panose="020B0609020204030204" pitchFamily="49" charset="0"/>
              </a:rPr>
              <a:t>)</a:t>
            </a:r>
          </a:p>
          <a:p>
            <a:pPr>
              <a:lnSpc>
                <a:spcPts val="1425"/>
              </a:lnSpc>
              <a:buNone/>
            </a:pPr>
            <a:r>
              <a:rPr lang="en-IN" b="0">
                <a:solidFill>
                  <a:srgbClr val="4EC9B0"/>
                </a:solidFill>
                <a:effectLst/>
                <a:latin typeface="Consolas" panose="020B0609020204030204" pitchFamily="49" charset="0"/>
              </a:rPr>
              <a:t>plt</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xlabel</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"Index"</a:t>
            </a:r>
            <a:r>
              <a:rPr lang="en-IN" b="0">
                <a:solidFill>
                  <a:srgbClr val="CCCCCC"/>
                </a:solidFill>
                <a:effectLst/>
                <a:latin typeface="Consolas" panose="020B0609020204030204" pitchFamily="49" charset="0"/>
              </a:rPr>
              <a:t>)</a:t>
            </a:r>
          </a:p>
          <a:p>
            <a:pPr>
              <a:lnSpc>
                <a:spcPts val="1425"/>
              </a:lnSpc>
              <a:buNone/>
            </a:pPr>
            <a:r>
              <a:rPr lang="en-IN" b="0">
                <a:solidFill>
                  <a:srgbClr val="4EC9B0"/>
                </a:solidFill>
                <a:effectLst/>
                <a:latin typeface="Consolas" panose="020B0609020204030204" pitchFamily="49" charset="0"/>
              </a:rPr>
              <a:t>plt</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ylabel</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"Value"</a:t>
            </a:r>
            <a:r>
              <a:rPr lang="en-IN" b="0">
                <a:solidFill>
                  <a:srgbClr val="CCCCCC"/>
                </a:solidFill>
                <a:effectLst/>
                <a:latin typeface="Consolas" panose="020B0609020204030204" pitchFamily="49" charset="0"/>
              </a:rPr>
              <a:t>)</a:t>
            </a:r>
          </a:p>
          <a:p>
            <a:pPr>
              <a:lnSpc>
                <a:spcPts val="1425"/>
              </a:lnSpc>
              <a:buNone/>
            </a:pPr>
            <a:r>
              <a:rPr lang="en-IN" b="0">
                <a:solidFill>
                  <a:srgbClr val="4EC9B0"/>
                </a:solidFill>
                <a:effectLst/>
                <a:latin typeface="Consolas" panose="020B0609020204030204" pitchFamily="49" charset="0"/>
              </a:rPr>
              <a:t>plt</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title</a:t>
            </a:r>
            <a:r>
              <a:rPr lang="en-IN" b="0">
                <a:solidFill>
                  <a:srgbClr val="CCCCCC"/>
                </a:solidFill>
                <a:effectLst/>
                <a:latin typeface="Consolas" panose="020B0609020204030204" pitchFamily="49" charset="0"/>
              </a:rPr>
              <a:t>(</a:t>
            </a:r>
            <a:r>
              <a:rPr lang="en-IN" b="0">
                <a:solidFill>
                  <a:srgbClr val="CE9178"/>
                </a:solidFill>
                <a:effectLst/>
                <a:latin typeface="Consolas" panose="020B0609020204030204" pitchFamily="49" charset="0"/>
              </a:rPr>
              <a:t>"Original vs Predicted Values"</a:t>
            </a:r>
            <a:r>
              <a:rPr lang="en-IN" b="0">
                <a:solidFill>
                  <a:srgbClr val="CCCCCC"/>
                </a:solidFill>
                <a:effectLst/>
                <a:latin typeface="Consolas" panose="020B0609020204030204" pitchFamily="49" charset="0"/>
              </a:rPr>
              <a:t>)</a:t>
            </a:r>
          </a:p>
          <a:p>
            <a:pPr>
              <a:lnSpc>
                <a:spcPts val="1425"/>
              </a:lnSpc>
              <a:buNone/>
            </a:pPr>
            <a:r>
              <a:rPr lang="en-IN" b="0">
                <a:solidFill>
                  <a:srgbClr val="4EC9B0"/>
                </a:solidFill>
                <a:effectLst/>
                <a:latin typeface="Consolas" panose="020B0609020204030204" pitchFamily="49" charset="0"/>
              </a:rPr>
              <a:t>plt</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legend</a:t>
            </a:r>
            <a:r>
              <a:rPr lang="en-IN" b="0">
                <a:solidFill>
                  <a:srgbClr val="CCCCCC"/>
                </a:solidFill>
                <a:effectLst/>
                <a:latin typeface="Consolas" panose="020B0609020204030204" pitchFamily="49" charset="0"/>
              </a:rPr>
              <a:t>()</a:t>
            </a:r>
          </a:p>
          <a:p>
            <a:pPr>
              <a:lnSpc>
                <a:spcPts val="1425"/>
              </a:lnSpc>
              <a:buNone/>
            </a:pPr>
            <a:r>
              <a:rPr lang="en-IN" b="0">
                <a:solidFill>
                  <a:srgbClr val="4EC9B0"/>
                </a:solidFill>
                <a:effectLst/>
                <a:latin typeface="Consolas" panose="020B0609020204030204" pitchFamily="49" charset="0"/>
              </a:rPr>
              <a:t>plt</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grid</a:t>
            </a:r>
            <a:r>
              <a:rPr lang="en-IN" b="0">
                <a:solidFill>
                  <a:srgbClr val="CCCCCC"/>
                </a:solidFill>
                <a:effectLst/>
                <a:latin typeface="Consolas" panose="020B0609020204030204" pitchFamily="49" charset="0"/>
              </a:rPr>
              <a:t>(</a:t>
            </a:r>
            <a:r>
              <a:rPr lang="en-IN" b="0">
                <a:solidFill>
                  <a:srgbClr val="569CD6"/>
                </a:solidFill>
                <a:effectLst/>
                <a:latin typeface="Consolas" panose="020B0609020204030204" pitchFamily="49" charset="0"/>
              </a:rPr>
              <a:t>True</a:t>
            </a:r>
            <a:r>
              <a:rPr lang="en-IN" b="0">
                <a:solidFill>
                  <a:srgbClr val="CCCCCC"/>
                </a:solidFill>
                <a:effectLst/>
                <a:latin typeface="Consolas" panose="020B0609020204030204" pitchFamily="49" charset="0"/>
              </a:rPr>
              <a:t>)</a:t>
            </a:r>
          </a:p>
          <a:p>
            <a:pPr>
              <a:lnSpc>
                <a:spcPts val="1425"/>
              </a:lnSpc>
            </a:pPr>
            <a:r>
              <a:rPr lang="en-IN" b="0">
                <a:solidFill>
                  <a:srgbClr val="4EC9B0"/>
                </a:solidFill>
                <a:effectLst/>
                <a:latin typeface="Consolas" panose="020B0609020204030204" pitchFamily="49" charset="0"/>
              </a:rPr>
              <a:t>plt</a:t>
            </a:r>
            <a:r>
              <a:rPr lang="en-IN" b="0">
                <a:solidFill>
                  <a:srgbClr val="CCCCCC"/>
                </a:solidFill>
                <a:effectLst/>
                <a:latin typeface="Consolas" panose="020B0609020204030204" pitchFamily="49" charset="0"/>
              </a:rPr>
              <a:t>.</a:t>
            </a:r>
            <a:r>
              <a:rPr lang="en-IN" b="0">
                <a:solidFill>
                  <a:srgbClr val="DCDCAA"/>
                </a:solidFill>
                <a:effectLst/>
                <a:latin typeface="Consolas" panose="020B0609020204030204" pitchFamily="49" charset="0"/>
              </a:rPr>
              <a:t>show</a:t>
            </a:r>
            <a:r>
              <a:rPr lang="en-IN" b="0">
                <a:solidFill>
                  <a:srgbClr val="CCCCCC"/>
                </a:solidFill>
                <a:effectLst/>
                <a:latin typeface="Consolas" panose="020B0609020204030204" pitchFamily="49" charset="0"/>
              </a:rPr>
              <a:t>()</a:t>
            </a:r>
          </a:p>
        </p:txBody>
      </p:sp>
    </p:spTree>
    <p:extLst>
      <p:ext uri="{BB962C8B-B14F-4D97-AF65-F5344CB8AC3E}">
        <p14:creationId xmlns:p14="http://schemas.microsoft.com/office/powerpoint/2010/main" val="404383030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48CEBB-40A1-DF7E-9A13-BC43E755DE93}"/>
              </a:ext>
            </a:extLst>
          </p:cNvPr>
          <p:cNvSpPr>
            <a:spLocks noGrp="1"/>
          </p:cNvSpPr>
          <p:nvPr>
            <p:ph type="title"/>
          </p:nvPr>
        </p:nvSpPr>
        <p:spPr/>
        <p:txBody>
          <a:bodyPr/>
          <a:lstStyle/>
          <a:p>
            <a:r>
              <a:rPr lang="en-US" dirty="0"/>
              <a:t>Demonstration and result</a:t>
            </a:r>
            <a:endParaRPr lang="en-IN" dirty="0"/>
          </a:p>
        </p:txBody>
      </p:sp>
      <p:sp>
        <p:nvSpPr>
          <p:cNvPr id="3" name="Content Placeholder 2">
            <a:extLst>
              <a:ext uri="{FF2B5EF4-FFF2-40B4-BE49-F238E27FC236}">
                <a16:creationId xmlns:a16="http://schemas.microsoft.com/office/drawing/2014/main" id="{12C7A2EA-F106-C63E-3673-5FC972654C2C}"/>
              </a:ext>
            </a:extLst>
          </p:cNvPr>
          <p:cNvSpPr>
            <a:spLocks noGrp="1"/>
          </p:cNvSpPr>
          <p:nvPr>
            <p:ph idx="1"/>
          </p:nvPr>
        </p:nvSpPr>
        <p:spPr/>
        <p:txBody>
          <a:bodyPr/>
          <a:lstStyle/>
          <a:p>
            <a:r>
              <a:rPr lang="en-US" dirty="0"/>
              <a:t>The above provided demonstrator code sends normalized input data and gets normalized output data and then de-normalize it to convert it into house price data for better readability.</a:t>
            </a:r>
          </a:p>
          <a:p>
            <a:r>
              <a:rPr lang="en-US" dirty="0"/>
              <a:t>First it includes all libraries and setups the serial communication and gets data from CSV.</a:t>
            </a:r>
          </a:p>
          <a:p>
            <a:r>
              <a:rPr lang="en-US" dirty="0"/>
              <a:t>Then it starts sending and receiving data over Serial port.</a:t>
            </a:r>
          </a:p>
          <a:p>
            <a:r>
              <a:rPr lang="en-US" dirty="0"/>
              <a:t>Then in the last section it plots the data on the graph to show the result.</a:t>
            </a:r>
          </a:p>
        </p:txBody>
      </p:sp>
    </p:spTree>
    <p:extLst>
      <p:ext uri="{BB962C8B-B14F-4D97-AF65-F5344CB8AC3E}">
        <p14:creationId xmlns:p14="http://schemas.microsoft.com/office/powerpoint/2010/main" val="420414827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15A1D-AAEF-C0FF-60CA-9473F51580CA}"/>
              </a:ext>
            </a:extLst>
          </p:cNvPr>
          <p:cNvSpPr>
            <a:spLocks noGrp="1"/>
          </p:cNvSpPr>
          <p:nvPr>
            <p:ph type="title"/>
          </p:nvPr>
        </p:nvSpPr>
        <p:spPr/>
        <p:txBody>
          <a:bodyPr/>
          <a:lstStyle/>
          <a:p>
            <a:r>
              <a:rPr lang="en-US" dirty="0"/>
              <a:t>Demonstration and result</a:t>
            </a:r>
            <a:endParaRPr lang="en-IN" dirty="0"/>
          </a:p>
        </p:txBody>
      </p:sp>
      <p:pic>
        <p:nvPicPr>
          <p:cNvPr id="4" name="Picture 3">
            <a:extLst>
              <a:ext uri="{FF2B5EF4-FFF2-40B4-BE49-F238E27FC236}">
                <a16:creationId xmlns:a16="http://schemas.microsoft.com/office/drawing/2014/main" id="{B3E6FCC5-87BD-C40A-F17B-381F01825D81}"/>
              </a:ext>
            </a:extLst>
          </p:cNvPr>
          <p:cNvPicPr>
            <a:picLocks noChangeAspect="1"/>
          </p:cNvPicPr>
          <p:nvPr/>
        </p:nvPicPr>
        <p:blipFill>
          <a:blip r:embed="rId2"/>
          <a:stretch>
            <a:fillRect/>
          </a:stretch>
        </p:blipFill>
        <p:spPr>
          <a:xfrm>
            <a:off x="976116" y="1704568"/>
            <a:ext cx="10236591" cy="5028369"/>
          </a:xfrm>
          <a:prstGeom prst="rect">
            <a:avLst/>
          </a:prstGeom>
        </p:spPr>
      </p:pic>
    </p:spTree>
    <p:extLst>
      <p:ext uri="{BB962C8B-B14F-4D97-AF65-F5344CB8AC3E}">
        <p14:creationId xmlns:p14="http://schemas.microsoft.com/office/powerpoint/2010/main" val="34111792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57583-8D7A-025A-13F2-90A98E77856F}"/>
              </a:ext>
            </a:extLst>
          </p:cNvPr>
          <p:cNvSpPr>
            <a:spLocks noGrp="1"/>
          </p:cNvSpPr>
          <p:nvPr>
            <p:ph type="title"/>
          </p:nvPr>
        </p:nvSpPr>
        <p:spPr/>
        <p:txBody>
          <a:bodyPr/>
          <a:lstStyle/>
          <a:p>
            <a:r>
              <a:rPr lang="en-US" dirty="0"/>
              <a:t>Demonstration and result</a:t>
            </a:r>
            <a:endParaRPr lang="en-IN" dirty="0"/>
          </a:p>
        </p:txBody>
      </p:sp>
      <p:sp>
        <p:nvSpPr>
          <p:cNvPr id="3" name="Content Placeholder 2">
            <a:extLst>
              <a:ext uri="{FF2B5EF4-FFF2-40B4-BE49-F238E27FC236}">
                <a16:creationId xmlns:a16="http://schemas.microsoft.com/office/drawing/2014/main" id="{27C6B660-CD00-2C44-2EA9-7F2D950C98BC}"/>
              </a:ext>
            </a:extLst>
          </p:cNvPr>
          <p:cNvSpPr>
            <a:spLocks noGrp="1"/>
          </p:cNvSpPr>
          <p:nvPr>
            <p:ph idx="1"/>
          </p:nvPr>
        </p:nvSpPr>
        <p:spPr/>
        <p:txBody>
          <a:bodyPr/>
          <a:lstStyle/>
          <a:p>
            <a:r>
              <a:rPr lang="en-US" dirty="0"/>
              <a:t>The above given graph shows the output of the Arduino that almost coincides with actual output.</a:t>
            </a:r>
          </a:p>
          <a:p>
            <a:r>
              <a:rPr lang="en-IN" dirty="0"/>
              <a:t>The Arduino in total had around 130 neurons and this consumed around 75% of it’s flash memory.</a:t>
            </a:r>
          </a:p>
          <a:p>
            <a:r>
              <a:rPr lang="en-IN" dirty="0"/>
              <a:t>The training was done with normalized data as the real data generated huge cost and derivative values to fit in a float. With 1500 </a:t>
            </a:r>
            <a:r>
              <a:rPr lang="en-IN" dirty="0" err="1"/>
              <a:t>epochi</a:t>
            </a:r>
            <a:r>
              <a:rPr lang="en-IN" dirty="0"/>
              <a:t> and a final cost of network around 0.001102. </a:t>
            </a:r>
          </a:p>
        </p:txBody>
      </p:sp>
    </p:spTree>
    <p:extLst>
      <p:ext uri="{BB962C8B-B14F-4D97-AF65-F5344CB8AC3E}">
        <p14:creationId xmlns:p14="http://schemas.microsoft.com/office/powerpoint/2010/main" val="3801798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3F26C65-8D82-1294-9F87-57738687FAAA}"/>
              </a:ext>
            </a:extLst>
          </p:cNvPr>
          <p:cNvSpPr txBox="1"/>
          <p:nvPr/>
        </p:nvSpPr>
        <p:spPr>
          <a:xfrm>
            <a:off x="1237956" y="2236763"/>
            <a:ext cx="9903655" cy="2308324"/>
          </a:xfrm>
          <a:prstGeom prst="rect">
            <a:avLst/>
          </a:prstGeom>
          <a:noFill/>
        </p:spPr>
        <p:txBody>
          <a:bodyPr wrap="square" rtlCol="0">
            <a:spAutoFit/>
          </a:bodyPr>
          <a:lstStyle/>
          <a:p>
            <a:r>
              <a:rPr lang="en-US" sz="7200" b="1"/>
              <a:t>Thank you and have a good day.</a:t>
            </a:r>
            <a:endParaRPr lang="en-IN" sz="7200" b="1" dirty="0"/>
          </a:p>
        </p:txBody>
      </p:sp>
    </p:spTree>
    <p:extLst>
      <p:ext uri="{BB962C8B-B14F-4D97-AF65-F5344CB8AC3E}">
        <p14:creationId xmlns:p14="http://schemas.microsoft.com/office/powerpoint/2010/main" val="200123564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213</TotalTime>
  <Words>2120</Words>
  <Application>Microsoft Office PowerPoint</Application>
  <PresentationFormat>Widescreen</PresentationFormat>
  <Paragraphs>175</Paragraphs>
  <Slides>20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Consolas</vt:lpstr>
      <vt:lpstr>Tw Cen MT</vt:lpstr>
      <vt:lpstr>Circuit</vt:lpstr>
      <vt:lpstr>Embeded DL (Ardu_DL)</vt:lpstr>
      <vt:lpstr>Introduction</vt:lpstr>
      <vt:lpstr>Applications of Embedded DL</vt:lpstr>
      <vt:lpstr>Objective of this project</vt:lpstr>
      <vt:lpstr>System Design &amp; Methodology</vt:lpstr>
      <vt:lpstr>System Design &amp; Methodology</vt:lpstr>
      <vt:lpstr>System Design &amp; Methodology</vt:lpstr>
      <vt:lpstr>Demonstration and result</vt:lpstr>
      <vt:lpstr>Demonstration and result</vt:lpstr>
      <vt:lpstr>Demonstration and result</vt:lpstr>
      <vt:lpstr>Demonstration and result</vt:lpstr>
      <vt:lpstr>Demonstration and result</vt:lpstr>
      <vt:lpstr>Demonstration and result</vt:lpstr>
      <vt:lpstr>Demonstration and result</vt:lpstr>
      <vt:lpstr>Demonstration and result</vt:lpstr>
      <vt:lpstr>Demonstration and result</vt:lpstr>
      <vt:lpstr>Demonstration and result</vt:lpstr>
      <vt:lpstr>Demonstration and result</vt:lpstr>
      <vt:lpstr>Demonstration and result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DELL</dc:creator>
  <cp:lastModifiedBy>DELL</cp:lastModifiedBy>
  <cp:revision>3</cp:revision>
  <dcterms:created xsi:type="dcterms:W3CDTF">2025-04-13T16:54:55Z</dcterms:created>
  <dcterms:modified xsi:type="dcterms:W3CDTF">2025-04-13T20:28:40Z</dcterms:modified>
</cp:coreProperties>
</file>